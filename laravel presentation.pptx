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presenting my final project for the Laravel subject. My name is Elene Molashvili. The project is called KIU Career Hub. It is a Laravel-based platform for managing university career opportunities, student profiles, applications, uploaded resumes, internal tasks, and API access. I continued my midterm project and developed it into a stronger final backend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explain the idea as a product. Before, vacancies, student information, CVs, and follow-up tasks can be spread across different places. The project centralizes this workflow. Staff can manage vacancies, students, applications, statuses, and tasks from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scenario I can demonstrate live. Admin creates a vacancy, student profile exists, an application is created for that vacancy, and staff can later update the application status. The application table is the center of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explain the access control. Guest users can only register or log in. Authenticated users can access the protected pages. Admin users have more privileges, for example creating, editing, deleting, and toggling status. This demonstrates middleware and route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the professor understand continuity. I started with the midterm core and then added final-level features: authentication, roles, admin middleware, file uploads, API resources, many-to-many relationships, and better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show the architecture. Blade is the view layer. Routes receive the request. Controllers run the main logic. FormRequests validate input. Middleware protects access. Models use Eloquent to work with the database. Storage is used for uploaded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safe technical explanation. I can say: when an admin submits the create vacancy form, the route catches the POST request. The auth and admin middleware protect the route. The controller receives the request, FormRequest validates it, and the Vacancy model saves it through Eloquent.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explain relationships. A student has many applications; a vacancy has many applications. Each application belongs to one student and one vacancy. Through the applications table, students and vacancies also become many-to-many.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do not need to explain every PHP symbol. The professional explanation is: Eloquent relationships let me access related records through models. hasMany handles direct applications. belongsToMany uses the applications table as a pivot and also keeps extra fields such as cover letter, status, and resume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CRUD and validation together. CRUD means Create, Read, Update, Delete. The project applies CRUD to vacancies, students, tasks, and applications. Every form has CSRF protection, and important data is validated before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file uploads, the form must use multipart/form-data. The request validates the file type and size. Laravel stores the file in storage. The database stores the path. This is better than storing the entire file inside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explain that the application has two outputs. For normal users it returns Blade pages. For external systems or frontend clients it can return JSON through API routes. API resources control what fields are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cheat sheet; it is the live demo plan. I can say I will demonstrate it through a product scenario: log in as admin, open dashboard, create or view a vacancy, open a student profile, show an application and status, then open an API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To conclude, KIU Career Hub is a complete Laravel final project that combines a real university career-office idea with technical Laravel requirements. It uses MVC, Eloquent, relationships, CRUD, Blade, validation, authentication, middleware, file uploads, and API endpoints.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pic>
        <p:nvPicPr>
          <p:cNvPr id="3" name="Image 0" descr="/mnt/data/kiu_campus_dark.png">    </p:cNvPr>
          <p:cNvPicPr>
            <a:picLocks noChangeAspect="1"/>
          </p:cNvPicPr>
          <p:nvPr/>
        </p:nvPicPr>
        <p:blipFill>
          <a:blip r:embed="rId1"/>
          <a:srcRect l="0" r="0" t="1399" b="1399"/>
          <a:stretch/>
        </p:blipFill>
        <p:spPr>
          <a:xfrm>
            <a:off x="0" y="0"/>
            <a:ext cx="12191695" cy="3703320"/>
          </a:xfrm>
          <a:prstGeom prst="rect">
            <a:avLst/>
          </a:prstGeom>
        </p:spPr>
      </p:pic>
      <p:sp>
        <p:nvSpPr>
          <p:cNvPr id="4" name="Shape 1"/>
          <p:cNvSpPr/>
          <p:nvPr/>
        </p:nvSpPr>
        <p:spPr>
          <a:xfrm>
            <a:off x="658368" y="621792"/>
            <a:ext cx="1463040" cy="283464"/>
          </a:xfrm>
          <a:prstGeom prst="roundRect">
            <a:avLst>
              <a:gd name="adj" fmla="val 38710"/>
            </a:avLst>
          </a:prstGeom>
          <a:solidFill>
            <a:srgbClr val="00B7FF">
              <a:alpha val="16000"/>
            </a:srgbClr>
          </a:solidFill>
          <a:ln w="12700">
            <a:solidFill>
              <a:srgbClr val="00B7FF"/>
            </a:solidFill>
            <a:prstDash val="solid"/>
          </a:ln>
        </p:spPr>
      </p:sp>
      <p:sp>
        <p:nvSpPr>
          <p:cNvPr id="5" name="Text 2"/>
          <p:cNvSpPr/>
          <p:nvPr/>
        </p:nvSpPr>
        <p:spPr>
          <a:xfrm>
            <a:off x="758952" y="691286"/>
            <a:ext cx="1298448" cy="118872"/>
          </a:xfrm>
          <a:prstGeom prst="rect">
            <a:avLst/>
          </a:prstGeom>
          <a:noFill/>
          <a:ln/>
        </p:spPr>
        <p:txBody>
          <a:bodyPr wrap="square" lIns="0" tIns="0" rIns="0" bIns="0" rtlCol="0" anchor="ctr"/>
          <a:lstStyle/>
          <a:p>
            <a:pPr indent="0" marL="0">
              <a:buNone/>
            </a:pPr>
            <a:r>
              <a:rPr lang="en-US" sz="640" b="1" dirty="0">
                <a:solidFill>
                  <a:srgbClr val="00B7FF"/>
                </a:solidFill>
              </a:rPr>
              <a:t>LARAVEL FINAL PROJECT</a:t>
            </a:r>
            <a:endParaRPr lang="en-US" sz="640" dirty="0"/>
          </a:p>
        </p:txBody>
      </p:sp>
      <p:sp>
        <p:nvSpPr>
          <p:cNvPr id="6" name="Text 3"/>
          <p:cNvSpPr/>
          <p:nvPr/>
        </p:nvSpPr>
        <p:spPr>
          <a:xfrm>
            <a:off x="658368" y="1316736"/>
            <a:ext cx="5212080" cy="594360"/>
          </a:xfrm>
          <a:prstGeom prst="rect">
            <a:avLst/>
          </a:prstGeom>
          <a:noFill/>
          <a:ln/>
        </p:spPr>
        <p:txBody>
          <a:bodyPr wrap="square" lIns="0" tIns="0" rIns="0" bIns="0" rtlCol="0" anchor="ctr">
            <a:normAutofit/>
          </a:bodyPr>
          <a:lstStyle/>
          <a:p>
            <a:pPr indent="0" marL="0">
              <a:buNone/>
            </a:pPr>
            <a:r>
              <a:rPr lang="en-US" sz="4300" b="1" dirty="0">
                <a:solidFill>
                  <a:srgbClr val="F7FAFC"/>
                </a:solidFill>
                <a:latin typeface="Aptos Display" pitchFamily="34" charset="0"/>
                <a:ea typeface="Aptos Display" pitchFamily="34" charset="-122"/>
                <a:cs typeface="Aptos Display" pitchFamily="34" charset="-120"/>
              </a:rPr>
              <a:t>KIU Career Hub</a:t>
            </a:r>
            <a:endParaRPr lang="en-US" sz="4300" dirty="0"/>
          </a:p>
        </p:txBody>
      </p:sp>
      <p:sp>
        <p:nvSpPr>
          <p:cNvPr id="7" name="Text 4"/>
          <p:cNvSpPr/>
          <p:nvPr/>
        </p:nvSpPr>
        <p:spPr>
          <a:xfrm>
            <a:off x="694944" y="2084832"/>
            <a:ext cx="5166360" cy="566928"/>
          </a:xfrm>
          <a:prstGeom prst="rect">
            <a:avLst/>
          </a:prstGeom>
          <a:noFill/>
          <a:ln/>
        </p:spPr>
        <p:txBody>
          <a:bodyPr wrap="square" lIns="0" tIns="0" rIns="0" bIns="0" rtlCol="0" anchor="t">
            <a:normAutofit/>
          </a:bodyPr>
          <a:lstStyle/>
          <a:p>
            <a:pPr indent="0" marL="0">
              <a:buNone/>
            </a:pPr>
            <a:r>
              <a:rPr lang="en-US" sz="1520" dirty="0">
                <a:solidFill>
                  <a:srgbClr val="AAB7CC"/>
                </a:solidFill>
              </a:rPr>
              <a:t>A practical career-office platform for vacancies, student profiles, applications, file uploads, protected management pages, and JSON API access.</a:t>
            </a:r>
            <a:endParaRPr lang="en-US" sz="1520" dirty="0"/>
          </a:p>
        </p:txBody>
      </p:sp>
      <p:sp>
        <p:nvSpPr>
          <p:cNvPr id="8" name="Shape 5"/>
          <p:cNvSpPr/>
          <p:nvPr/>
        </p:nvSpPr>
        <p:spPr>
          <a:xfrm>
            <a:off x="694944" y="2935224"/>
            <a:ext cx="2688336" cy="0"/>
          </a:xfrm>
          <a:prstGeom prst="line">
            <a:avLst/>
          </a:prstGeom>
          <a:noFill/>
          <a:ln w="38100">
            <a:solidFill>
              <a:srgbClr val="34E6C2"/>
            </a:solidFill>
            <a:prstDash val="solid"/>
            <a:headEnd type="none"/>
            <a:tailEnd type="none"/>
          </a:ln>
        </p:spPr>
      </p:sp>
      <p:sp>
        <p:nvSpPr>
          <p:cNvPr id="9" name="Text 6"/>
          <p:cNvSpPr/>
          <p:nvPr/>
        </p:nvSpPr>
        <p:spPr>
          <a:xfrm>
            <a:off x="694944" y="4224528"/>
            <a:ext cx="3291840" cy="274320"/>
          </a:xfrm>
          <a:prstGeom prst="rect">
            <a:avLst/>
          </a:prstGeom>
          <a:noFill/>
          <a:ln/>
        </p:spPr>
        <p:txBody>
          <a:bodyPr wrap="square" lIns="0" tIns="0" rIns="0" bIns="0" rtlCol="0" anchor="ctr"/>
          <a:lstStyle/>
          <a:p>
            <a:pPr indent="0" marL="0">
              <a:buNone/>
            </a:pPr>
            <a:r>
              <a:rPr lang="en-US" sz="1450" b="1" dirty="0">
                <a:solidFill>
                  <a:srgbClr val="F7FAFC"/>
                </a:solidFill>
              </a:rPr>
              <a:t>Elene Molashvili</a:t>
            </a:r>
            <a:endParaRPr lang="en-US" sz="1450" dirty="0"/>
          </a:p>
        </p:txBody>
      </p:sp>
      <p:sp>
        <p:nvSpPr>
          <p:cNvPr id="10" name="Text 7"/>
          <p:cNvSpPr/>
          <p:nvPr/>
        </p:nvSpPr>
        <p:spPr>
          <a:xfrm>
            <a:off x="694944" y="4617720"/>
            <a:ext cx="1920240" cy="201168"/>
          </a:xfrm>
          <a:prstGeom prst="rect">
            <a:avLst/>
          </a:prstGeom>
          <a:noFill/>
          <a:ln/>
        </p:spPr>
        <p:txBody>
          <a:bodyPr wrap="square" lIns="0" tIns="0" rIns="0" bIns="0" rtlCol="0" anchor="ctr"/>
          <a:lstStyle/>
          <a:p>
            <a:pPr indent="0" marL="0">
              <a:buNone/>
            </a:pPr>
            <a:r>
              <a:rPr lang="en-US" sz="1080" dirty="0">
                <a:solidFill>
                  <a:srgbClr val="AAB7CC"/>
                </a:solidFill>
              </a:rPr>
              <a:t>Subject: Laravel</a:t>
            </a:r>
            <a:endParaRPr lang="en-US" sz="1080" dirty="0"/>
          </a:p>
        </p:txBody>
      </p:sp>
      <p:sp>
        <p:nvSpPr>
          <p:cNvPr id="11" name="Text 8"/>
          <p:cNvSpPr/>
          <p:nvPr/>
        </p:nvSpPr>
        <p:spPr>
          <a:xfrm>
            <a:off x="694944" y="4919472"/>
            <a:ext cx="2560320" cy="201168"/>
          </a:xfrm>
          <a:prstGeom prst="rect">
            <a:avLst/>
          </a:prstGeom>
          <a:noFill/>
          <a:ln/>
        </p:spPr>
        <p:txBody>
          <a:bodyPr wrap="square" lIns="0" tIns="0" rIns="0" bIns="0" rtlCol="0" anchor="ctr"/>
          <a:lstStyle/>
          <a:p>
            <a:pPr indent="0" marL="0">
              <a:buNone/>
            </a:pPr>
            <a:r>
              <a:rPr lang="en-US" sz="1080" dirty="0">
                <a:solidFill>
                  <a:srgbClr val="AAB7CC"/>
                </a:solidFill>
              </a:rPr>
              <a:t>Professor: Lasha Iashvili</a:t>
            </a:r>
            <a:endParaRPr lang="en-US" sz="1080" dirty="0"/>
          </a:p>
        </p:txBody>
      </p:sp>
      <p:sp>
        <p:nvSpPr>
          <p:cNvPr id="12" name="Shape 9"/>
          <p:cNvSpPr/>
          <p:nvPr/>
        </p:nvSpPr>
        <p:spPr>
          <a:xfrm>
            <a:off x="694944" y="5632704"/>
            <a:ext cx="4572000" cy="530352"/>
          </a:xfrm>
          <a:prstGeom prst="roundRect">
            <a:avLst>
              <a:gd name="adj" fmla="val 18966"/>
            </a:avLst>
          </a:prstGeom>
          <a:solidFill>
            <a:srgbClr val="101827"/>
          </a:solidFill>
          <a:ln w="12700">
            <a:solidFill>
              <a:srgbClr val="1F2A44"/>
            </a:solidFill>
            <a:prstDash val="solid"/>
          </a:ln>
        </p:spPr>
      </p:sp>
      <p:pic>
        <p:nvPicPr>
          <p:cNvPr id="13" name="Image 1" descr="/mnt/data/laravel_logo.png">    </p:cNvPr>
          <p:cNvPicPr>
            <a:picLocks noChangeAspect="1"/>
          </p:cNvPicPr>
          <p:nvPr/>
        </p:nvPicPr>
        <p:blipFill>
          <a:blip r:embed="rId2"/>
          <a:srcRect l="6887" r="6887" t="0" b="0"/>
          <a:stretch/>
        </p:blipFill>
        <p:spPr>
          <a:xfrm>
            <a:off x="868680" y="5724144"/>
            <a:ext cx="347472" cy="228600"/>
          </a:xfrm>
          <a:prstGeom prst="rect">
            <a:avLst/>
          </a:prstGeom>
        </p:spPr>
      </p:pic>
      <p:sp>
        <p:nvSpPr>
          <p:cNvPr id="14" name="Text 10"/>
          <p:cNvSpPr/>
          <p:nvPr/>
        </p:nvSpPr>
        <p:spPr>
          <a:xfrm>
            <a:off x="1417320" y="5769864"/>
            <a:ext cx="3520440" cy="146304"/>
          </a:xfrm>
          <a:prstGeom prst="rect">
            <a:avLst/>
          </a:prstGeom>
          <a:noFill/>
          <a:ln/>
        </p:spPr>
        <p:txBody>
          <a:bodyPr wrap="square" lIns="0" tIns="0" rIns="0" bIns="0" rtlCol="0" anchor="ctr"/>
          <a:lstStyle/>
          <a:p>
            <a:pPr indent="0" marL="0">
              <a:buNone/>
            </a:pPr>
            <a:r>
              <a:rPr lang="en-US" sz="810" dirty="0">
                <a:solidFill>
                  <a:srgbClr val="AAB7CC"/>
                </a:solidFill>
              </a:rPr>
              <a:t>Built by continuing and scaling the midterm project into a final backend system.</a:t>
            </a:r>
            <a:endParaRPr lang="en-US" sz="8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02</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Product vision: one place for KIU career workflow</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idea is not only to submit a Laravel task — it is to solve a real university process.</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Text 8"/>
          <p:cNvSpPr/>
          <p:nvPr/>
        </p:nvSpPr>
        <p:spPr>
          <a:xfrm>
            <a:off x="841248" y="1691640"/>
            <a:ext cx="914400" cy="256032"/>
          </a:xfrm>
          <a:prstGeom prst="rect">
            <a:avLst/>
          </a:prstGeom>
          <a:noFill/>
          <a:ln/>
        </p:spPr>
        <p:txBody>
          <a:bodyPr wrap="square" lIns="0" tIns="0" rIns="0" bIns="0" rtlCol="0" anchor="ctr"/>
          <a:lstStyle/>
          <a:p>
            <a:pPr indent="0" marL="0">
              <a:buNone/>
            </a:pPr>
            <a:r>
              <a:rPr lang="en-US" sz="1600" b="1" dirty="0">
                <a:solidFill>
                  <a:srgbClr val="FF6B6B"/>
                </a:solidFill>
              </a:rPr>
              <a:t>Before</a:t>
            </a:r>
            <a:endParaRPr lang="en-US" sz="1600" dirty="0"/>
          </a:p>
        </p:txBody>
      </p:sp>
      <p:sp>
        <p:nvSpPr>
          <p:cNvPr id="11" name="Text 9"/>
          <p:cNvSpPr/>
          <p:nvPr/>
        </p:nvSpPr>
        <p:spPr>
          <a:xfrm>
            <a:off x="6720840" y="1691640"/>
            <a:ext cx="822960" cy="256032"/>
          </a:xfrm>
          <a:prstGeom prst="rect">
            <a:avLst/>
          </a:prstGeom>
          <a:noFill/>
          <a:ln/>
        </p:spPr>
        <p:txBody>
          <a:bodyPr wrap="square" lIns="0" tIns="0" rIns="0" bIns="0" rtlCol="0" anchor="ctr"/>
          <a:lstStyle/>
          <a:p>
            <a:pPr indent="0" marL="0">
              <a:buNone/>
            </a:pPr>
            <a:r>
              <a:rPr lang="en-US" sz="1600" b="1" dirty="0">
                <a:solidFill>
                  <a:srgbClr val="80F2A1"/>
                </a:solidFill>
              </a:rPr>
              <a:t>After</a:t>
            </a:r>
            <a:endParaRPr lang="en-US" sz="1600" dirty="0"/>
          </a:p>
        </p:txBody>
      </p:sp>
      <p:sp>
        <p:nvSpPr>
          <p:cNvPr id="12" name="Shape 10"/>
          <p:cNvSpPr/>
          <p:nvPr/>
        </p:nvSpPr>
        <p:spPr>
          <a:xfrm>
            <a:off x="5276088" y="3456432"/>
            <a:ext cx="1170432" cy="0"/>
          </a:xfrm>
          <a:prstGeom prst="line">
            <a:avLst/>
          </a:prstGeom>
          <a:noFill/>
          <a:ln w="30480">
            <a:solidFill>
              <a:srgbClr val="34E6C2"/>
            </a:solidFill>
            <a:prstDash val="solid"/>
            <a:headEnd type="none"/>
            <a:tailEnd type="triangle"/>
          </a:ln>
        </p:spPr>
      </p:sp>
      <p:sp>
        <p:nvSpPr>
          <p:cNvPr id="13" name="Shape 11"/>
          <p:cNvSpPr/>
          <p:nvPr/>
        </p:nvSpPr>
        <p:spPr>
          <a:xfrm>
            <a:off x="777240" y="2148840"/>
            <a:ext cx="4297680" cy="2880360"/>
          </a:xfrm>
          <a:prstGeom prst="roundRect">
            <a:avLst>
              <a:gd name="adj" fmla="val 5079"/>
            </a:avLst>
          </a:prstGeom>
          <a:solidFill>
            <a:srgbClr val="101827"/>
          </a:solidFill>
          <a:ln w="12700">
            <a:solidFill>
              <a:srgbClr val="25344C"/>
            </a:solidFill>
            <a:prstDash val="solid"/>
          </a:ln>
        </p:spPr>
      </p:sp>
      <p:sp>
        <p:nvSpPr>
          <p:cNvPr id="14" name="Text 12"/>
          <p:cNvSpPr/>
          <p:nvPr/>
        </p:nvSpPr>
        <p:spPr>
          <a:xfrm>
            <a:off x="1078992" y="2468880"/>
            <a:ext cx="3657600" cy="2057400"/>
          </a:xfrm>
          <a:prstGeom prst="rect">
            <a:avLst/>
          </a:prstGeom>
          <a:noFill/>
          <a:ln/>
        </p:spPr>
        <p:txBody>
          <a:bodyPr wrap="square" lIns="762" tIns="762" rIns="762" bIns="762" rtlCol="0" anchor="t">
            <a:normAutofit/>
          </a:bodyPr>
          <a:lstStyle/>
          <a:p>
            <a:r>
              <a:rPr lang="en-US" sz="1300" dirty="0">
                <a:solidFill>
                  <a:srgbClr val="F7FAFC"/>
                </a:solidFill>
              </a:rPr>
              <a:t>Vacancies can be scattered across messages</a:t>
            </a:r>
            <a:endParaRPr lang="en-US" sz="1300" dirty="0"/>
          </a:p>
          <a:p>
            <a:r>
              <a:rPr lang="en-US" sz="1300" dirty="0">
                <a:solidFill>
                  <a:srgbClr val="F7FAFC"/>
                </a:solidFill>
              </a:rPr>
              <a:t>Student CVs and skills are hard to compare</a:t>
            </a:r>
            <a:endParaRPr lang="en-US" sz="1300" dirty="0"/>
          </a:p>
          <a:p>
            <a:r>
              <a:rPr lang="en-US" sz="1300" dirty="0">
                <a:solidFill>
                  <a:srgbClr val="F7FAFC"/>
                </a:solidFill>
              </a:rPr>
              <a:t>Application status is not always visible</a:t>
            </a:r>
            <a:endParaRPr lang="en-US" sz="1300" dirty="0"/>
          </a:p>
          <a:p>
            <a:r>
              <a:rPr lang="en-US" sz="1300" dirty="0">
                <a:solidFill>
                  <a:srgbClr val="F7FAFC"/>
                </a:solidFill>
              </a:rPr>
              <a:t>Follow-up tasks can be forgotten</a:t>
            </a:r>
            <a:endParaRPr lang="en-US" sz="1300" dirty="0"/>
          </a:p>
        </p:txBody>
      </p:sp>
      <p:sp>
        <p:nvSpPr>
          <p:cNvPr id="15" name="Shape 13"/>
          <p:cNvSpPr/>
          <p:nvPr/>
        </p:nvSpPr>
        <p:spPr>
          <a:xfrm>
            <a:off x="6629400" y="2148840"/>
            <a:ext cx="4526280" cy="2880360"/>
          </a:xfrm>
          <a:prstGeom prst="roundRect">
            <a:avLst>
              <a:gd name="adj" fmla="val 5079"/>
            </a:avLst>
          </a:prstGeom>
          <a:solidFill>
            <a:srgbClr val="101827"/>
          </a:solidFill>
          <a:ln w="12700">
            <a:solidFill>
              <a:srgbClr val="25344C"/>
            </a:solidFill>
            <a:prstDash val="solid"/>
          </a:ln>
        </p:spPr>
      </p:sp>
      <p:sp>
        <p:nvSpPr>
          <p:cNvPr id="16" name="Text 14"/>
          <p:cNvSpPr/>
          <p:nvPr/>
        </p:nvSpPr>
        <p:spPr>
          <a:xfrm>
            <a:off x="6931152" y="2468880"/>
            <a:ext cx="3794760" cy="2057400"/>
          </a:xfrm>
          <a:prstGeom prst="rect">
            <a:avLst/>
          </a:prstGeom>
          <a:noFill/>
          <a:ln/>
        </p:spPr>
        <p:txBody>
          <a:bodyPr wrap="square" lIns="762" tIns="762" rIns="762" bIns="762" rtlCol="0" anchor="t">
            <a:normAutofit/>
          </a:bodyPr>
          <a:lstStyle/>
          <a:p>
            <a:r>
              <a:rPr lang="en-US" sz="1300" dirty="0">
                <a:solidFill>
                  <a:srgbClr val="F7FAFC"/>
                </a:solidFill>
              </a:rPr>
              <a:t>Vacancies are created and updated in one system</a:t>
            </a:r>
            <a:endParaRPr lang="en-US" sz="1300" dirty="0"/>
          </a:p>
          <a:p>
            <a:r>
              <a:rPr lang="en-US" sz="1300" dirty="0">
                <a:solidFill>
                  <a:srgbClr val="F7FAFC"/>
                </a:solidFill>
              </a:rPr>
              <a:t>Student profiles store skills, links, and photo</a:t>
            </a:r>
            <a:endParaRPr lang="en-US" sz="1300" dirty="0"/>
          </a:p>
          <a:p>
            <a:r>
              <a:rPr lang="en-US" sz="1300" dirty="0">
                <a:solidFill>
                  <a:srgbClr val="F7FAFC"/>
                </a:solidFill>
              </a:rPr>
              <a:t>Applications connect students to vacancies</a:t>
            </a:r>
            <a:endParaRPr lang="en-US" sz="1300" dirty="0"/>
          </a:p>
          <a:p>
            <a:r>
              <a:rPr lang="en-US" sz="1300" dirty="0">
                <a:solidFill>
                  <a:srgbClr val="F7FAFC"/>
                </a:solidFill>
              </a:rPr>
              <a:t>Admin can manage status, tasks, and data</a:t>
            </a:r>
            <a:endParaRPr lang="en-US" sz="1300" dirty="0"/>
          </a:p>
        </p:txBody>
      </p:sp>
      <p:sp>
        <p:nvSpPr>
          <p:cNvPr id="17" name="Shape 15"/>
          <p:cNvSpPr/>
          <p:nvPr/>
        </p:nvSpPr>
        <p:spPr>
          <a:xfrm>
            <a:off x="2011680" y="5596128"/>
            <a:ext cx="8138160" cy="502920"/>
          </a:xfrm>
          <a:prstGeom prst="roundRect">
            <a:avLst>
              <a:gd name="adj" fmla="val 29091"/>
            </a:avLst>
          </a:prstGeom>
          <a:solidFill>
            <a:srgbClr val="0D1524"/>
          </a:solidFill>
          <a:ln w="12700">
            <a:solidFill>
              <a:srgbClr val="1F2A44"/>
            </a:solidFill>
            <a:prstDash val="solid"/>
          </a:ln>
        </p:spPr>
      </p:sp>
      <p:sp>
        <p:nvSpPr>
          <p:cNvPr id="18" name="Text 16"/>
          <p:cNvSpPr/>
          <p:nvPr/>
        </p:nvSpPr>
        <p:spPr>
          <a:xfrm>
            <a:off x="2304288" y="5760720"/>
            <a:ext cx="7543800" cy="137160"/>
          </a:xfrm>
          <a:prstGeom prst="rect">
            <a:avLst/>
          </a:prstGeom>
          <a:noFill/>
          <a:ln/>
        </p:spPr>
        <p:txBody>
          <a:bodyPr wrap="square" lIns="0" tIns="0" rIns="0" bIns="0" rtlCol="0" anchor="t">
            <a:normAutofit/>
          </a:bodyPr>
          <a:lstStyle/>
          <a:p>
            <a:pPr indent="0" marL="0">
              <a:buNone/>
            </a:pPr>
            <a:r>
              <a:rPr lang="en-US" sz="1050" b="1" dirty="0">
                <a:solidFill>
                  <a:srgbClr val="F7FAFC"/>
                </a:solidFill>
              </a:rPr>
              <a:t>Product promise: make the career process visible, searchable, and manageable from one Laravel application.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03</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Core workflow: from vacancy to decision</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application follows the natural flow of a university career platform.</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2606040" y="3145536"/>
            <a:ext cx="960120" cy="0"/>
          </a:xfrm>
          <a:prstGeom prst="line">
            <a:avLst/>
          </a:prstGeom>
          <a:noFill/>
          <a:ln w="21590">
            <a:solidFill>
              <a:srgbClr val="233148"/>
            </a:solidFill>
            <a:prstDash val="solid"/>
            <a:headEnd type="none"/>
            <a:tailEnd type="triangle"/>
          </a:ln>
        </p:spPr>
      </p:sp>
      <p:sp>
        <p:nvSpPr>
          <p:cNvPr id="11" name="Shape 9"/>
          <p:cNvSpPr/>
          <p:nvPr/>
        </p:nvSpPr>
        <p:spPr>
          <a:xfrm>
            <a:off x="5349240" y="3145536"/>
            <a:ext cx="960120" cy="0"/>
          </a:xfrm>
          <a:prstGeom prst="line">
            <a:avLst/>
          </a:prstGeom>
          <a:noFill/>
          <a:ln w="21590">
            <a:solidFill>
              <a:srgbClr val="233148"/>
            </a:solidFill>
            <a:prstDash val="solid"/>
            <a:headEnd type="none"/>
            <a:tailEnd type="triangle"/>
          </a:ln>
        </p:spPr>
      </p:sp>
      <p:sp>
        <p:nvSpPr>
          <p:cNvPr id="12" name="Shape 10"/>
          <p:cNvSpPr/>
          <p:nvPr/>
        </p:nvSpPr>
        <p:spPr>
          <a:xfrm>
            <a:off x="8092440" y="3145536"/>
            <a:ext cx="960120" cy="0"/>
          </a:xfrm>
          <a:prstGeom prst="line">
            <a:avLst/>
          </a:prstGeom>
          <a:noFill/>
          <a:ln w="21590">
            <a:solidFill>
              <a:srgbClr val="233148"/>
            </a:solidFill>
            <a:prstDash val="solid"/>
            <a:headEnd type="none"/>
            <a:tailEnd type="triangle"/>
          </a:ln>
        </p:spPr>
      </p:sp>
      <p:sp>
        <p:nvSpPr>
          <p:cNvPr id="13" name="Shape 11"/>
          <p:cNvSpPr/>
          <p:nvPr/>
        </p:nvSpPr>
        <p:spPr>
          <a:xfrm>
            <a:off x="713232" y="2121408"/>
            <a:ext cx="2057400" cy="2011680"/>
          </a:xfrm>
          <a:prstGeom prst="roundRect">
            <a:avLst>
              <a:gd name="adj" fmla="val 7273"/>
            </a:avLst>
          </a:prstGeom>
          <a:solidFill>
            <a:srgbClr val="101827"/>
          </a:solidFill>
          <a:ln w="12700">
            <a:solidFill>
              <a:srgbClr val="25344C"/>
            </a:solidFill>
            <a:prstDash val="solid"/>
          </a:ln>
        </p:spPr>
      </p:sp>
      <p:sp>
        <p:nvSpPr>
          <p:cNvPr id="14" name="Text 12"/>
          <p:cNvSpPr/>
          <p:nvPr/>
        </p:nvSpPr>
        <p:spPr>
          <a:xfrm>
            <a:off x="886968" y="2331720"/>
            <a:ext cx="384048" cy="310896"/>
          </a:xfrm>
          <a:prstGeom prst="rect">
            <a:avLst/>
          </a:prstGeom>
          <a:noFill/>
          <a:ln/>
        </p:spPr>
        <p:txBody>
          <a:bodyPr wrap="square" lIns="0" tIns="0" rIns="0" bIns="0" rtlCol="0" anchor="ctr"/>
          <a:lstStyle/>
          <a:p>
            <a:pPr indent="0" marL="0">
              <a:buNone/>
            </a:pPr>
            <a:r>
              <a:rPr lang="en-US" sz="1900" b="1" dirty="0">
                <a:solidFill>
                  <a:srgbClr val="00B7FF"/>
                </a:solidFill>
              </a:rPr>
              <a:t>1</a:t>
            </a:r>
            <a:endParaRPr lang="en-US" sz="1900" dirty="0"/>
          </a:p>
        </p:txBody>
      </p:sp>
      <p:sp>
        <p:nvSpPr>
          <p:cNvPr id="15" name="Text 13"/>
          <p:cNvSpPr/>
          <p:nvPr/>
        </p:nvSpPr>
        <p:spPr>
          <a:xfrm>
            <a:off x="886968" y="2779776"/>
            <a:ext cx="160934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Vacancy created</a:t>
            </a:r>
            <a:endParaRPr lang="en-US" sz="1300" dirty="0"/>
          </a:p>
        </p:txBody>
      </p:sp>
      <p:sp>
        <p:nvSpPr>
          <p:cNvPr id="16" name="Text 14"/>
          <p:cNvSpPr/>
          <p:nvPr/>
        </p:nvSpPr>
        <p:spPr>
          <a:xfrm>
            <a:off x="886968" y="3246120"/>
            <a:ext cx="1664208" cy="512064"/>
          </a:xfrm>
          <a:prstGeom prst="rect">
            <a:avLst/>
          </a:prstGeom>
          <a:noFill/>
          <a:ln/>
        </p:spPr>
        <p:txBody>
          <a:bodyPr wrap="square" lIns="0" tIns="0" rIns="0" bIns="0" rtlCol="0" anchor="t">
            <a:normAutofit/>
          </a:bodyPr>
          <a:lstStyle/>
          <a:p>
            <a:pPr indent="0" marL="0">
              <a:buNone/>
            </a:pPr>
            <a:r>
              <a:rPr lang="en-US" sz="920" dirty="0">
                <a:solidFill>
                  <a:srgbClr val="AAB7CC"/>
                </a:solidFill>
              </a:rPr>
              <a:t>Admin posts internship/job details</a:t>
            </a:r>
            <a:endParaRPr lang="en-US" sz="920" dirty="0"/>
          </a:p>
        </p:txBody>
      </p:sp>
      <p:sp>
        <p:nvSpPr>
          <p:cNvPr id="17" name="Shape 15"/>
          <p:cNvSpPr/>
          <p:nvPr/>
        </p:nvSpPr>
        <p:spPr>
          <a:xfrm>
            <a:off x="713232" y="3968496"/>
            <a:ext cx="2057400" cy="73152"/>
          </a:xfrm>
          <a:prstGeom prst="rect">
            <a:avLst/>
          </a:prstGeom>
          <a:solidFill>
            <a:srgbClr val="00B7FF"/>
          </a:solidFill>
          <a:ln w="6350">
            <a:solidFill>
              <a:srgbClr val="00B7FF">
                <a:alpha val="0"/>
              </a:srgbClr>
            </a:solidFill>
            <a:prstDash val="solid"/>
          </a:ln>
        </p:spPr>
      </p:sp>
      <p:sp>
        <p:nvSpPr>
          <p:cNvPr id="18" name="Shape 16"/>
          <p:cNvSpPr/>
          <p:nvPr/>
        </p:nvSpPr>
        <p:spPr>
          <a:xfrm>
            <a:off x="3456432" y="2121408"/>
            <a:ext cx="2057400" cy="2011680"/>
          </a:xfrm>
          <a:prstGeom prst="roundRect">
            <a:avLst>
              <a:gd name="adj" fmla="val 7273"/>
            </a:avLst>
          </a:prstGeom>
          <a:solidFill>
            <a:srgbClr val="101827"/>
          </a:solidFill>
          <a:ln w="12700">
            <a:solidFill>
              <a:srgbClr val="25344C"/>
            </a:solidFill>
            <a:prstDash val="solid"/>
          </a:ln>
        </p:spPr>
      </p:sp>
      <p:sp>
        <p:nvSpPr>
          <p:cNvPr id="19" name="Text 17"/>
          <p:cNvSpPr/>
          <p:nvPr/>
        </p:nvSpPr>
        <p:spPr>
          <a:xfrm>
            <a:off x="3630168" y="2331720"/>
            <a:ext cx="384048" cy="310896"/>
          </a:xfrm>
          <a:prstGeom prst="rect">
            <a:avLst/>
          </a:prstGeom>
          <a:noFill/>
          <a:ln/>
        </p:spPr>
        <p:txBody>
          <a:bodyPr wrap="square" lIns="0" tIns="0" rIns="0" bIns="0" rtlCol="0" anchor="ctr"/>
          <a:lstStyle/>
          <a:p>
            <a:pPr indent="0" marL="0">
              <a:buNone/>
            </a:pPr>
            <a:r>
              <a:rPr lang="en-US" sz="1900" b="1" dirty="0">
                <a:solidFill>
                  <a:srgbClr val="34E6C2"/>
                </a:solidFill>
              </a:rPr>
              <a:t>2</a:t>
            </a:r>
            <a:endParaRPr lang="en-US" sz="1900" dirty="0"/>
          </a:p>
        </p:txBody>
      </p:sp>
      <p:sp>
        <p:nvSpPr>
          <p:cNvPr id="20" name="Text 18"/>
          <p:cNvSpPr/>
          <p:nvPr/>
        </p:nvSpPr>
        <p:spPr>
          <a:xfrm>
            <a:off x="3630168" y="2779776"/>
            <a:ext cx="160934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Student selected</a:t>
            </a:r>
            <a:endParaRPr lang="en-US" sz="1300" dirty="0"/>
          </a:p>
        </p:txBody>
      </p:sp>
      <p:sp>
        <p:nvSpPr>
          <p:cNvPr id="21" name="Text 19"/>
          <p:cNvSpPr/>
          <p:nvPr/>
        </p:nvSpPr>
        <p:spPr>
          <a:xfrm>
            <a:off x="3630168" y="3246120"/>
            <a:ext cx="1664208" cy="512064"/>
          </a:xfrm>
          <a:prstGeom prst="rect">
            <a:avLst/>
          </a:prstGeom>
          <a:noFill/>
          <a:ln/>
        </p:spPr>
        <p:txBody>
          <a:bodyPr wrap="square" lIns="0" tIns="0" rIns="0" bIns="0" rtlCol="0" anchor="t">
            <a:normAutofit/>
          </a:bodyPr>
          <a:lstStyle/>
          <a:p>
            <a:pPr indent="0" marL="0">
              <a:buNone/>
            </a:pPr>
            <a:r>
              <a:rPr lang="en-US" sz="920" dirty="0">
                <a:solidFill>
                  <a:srgbClr val="AAB7CC"/>
                </a:solidFill>
              </a:rPr>
              <a:t>Profile includes faculty, skills, links, photo</a:t>
            </a:r>
            <a:endParaRPr lang="en-US" sz="920" dirty="0"/>
          </a:p>
        </p:txBody>
      </p:sp>
      <p:sp>
        <p:nvSpPr>
          <p:cNvPr id="22" name="Shape 20"/>
          <p:cNvSpPr/>
          <p:nvPr/>
        </p:nvSpPr>
        <p:spPr>
          <a:xfrm>
            <a:off x="3456432" y="3968496"/>
            <a:ext cx="2057400" cy="73152"/>
          </a:xfrm>
          <a:prstGeom prst="rect">
            <a:avLst/>
          </a:prstGeom>
          <a:solidFill>
            <a:srgbClr val="34E6C2"/>
          </a:solidFill>
          <a:ln w="6350">
            <a:solidFill>
              <a:srgbClr val="34E6C2">
                <a:alpha val="0"/>
              </a:srgbClr>
            </a:solidFill>
            <a:prstDash val="solid"/>
          </a:ln>
        </p:spPr>
      </p:sp>
      <p:sp>
        <p:nvSpPr>
          <p:cNvPr id="23" name="Shape 21"/>
          <p:cNvSpPr/>
          <p:nvPr/>
        </p:nvSpPr>
        <p:spPr>
          <a:xfrm>
            <a:off x="6199632" y="2121408"/>
            <a:ext cx="2057400" cy="2011680"/>
          </a:xfrm>
          <a:prstGeom prst="roundRect">
            <a:avLst>
              <a:gd name="adj" fmla="val 7273"/>
            </a:avLst>
          </a:prstGeom>
          <a:solidFill>
            <a:srgbClr val="101827"/>
          </a:solidFill>
          <a:ln w="12700">
            <a:solidFill>
              <a:srgbClr val="25344C"/>
            </a:solidFill>
            <a:prstDash val="solid"/>
          </a:ln>
        </p:spPr>
      </p:sp>
      <p:sp>
        <p:nvSpPr>
          <p:cNvPr id="24" name="Text 22"/>
          <p:cNvSpPr/>
          <p:nvPr/>
        </p:nvSpPr>
        <p:spPr>
          <a:xfrm>
            <a:off x="6373368" y="2331720"/>
            <a:ext cx="384048" cy="310896"/>
          </a:xfrm>
          <a:prstGeom prst="rect">
            <a:avLst/>
          </a:prstGeom>
          <a:noFill/>
          <a:ln/>
        </p:spPr>
        <p:txBody>
          <a:bodyPr wrap="square" lIns="0" tIns="0" rIns="0" bIns="0" rtlCol="0" anchor="ctr"/>
          <a:lstStyle/>
          <a:p>
            <a:pPr indent="0" marL="0">
              <a:buNone/>
            </a:pPr>
            <a:r>
              <a:rPr lang="en-US" sz="1900" b="1" dirty="0">
                <a:solidFill>
                  <a:srgbClr val="80F2A1"/>
                </a:solidFill>
              </a:rPr>
              <a:t>3</a:t>
            </a:r>
            <a:endParaRPr lang="en-US" sz="1900" dirty="0"/>
          </a:p>
        </p:txBody>
      </p:sp>
      <p:sp>
        <p:nvSpPr>
          <p:cNvPr id="25" name="Text 23"/>
          <p:cNvSpPr/>
          <p:nvPr/>
        </p:nvSpPr>
        <p:spPr>
          <a:xfrm>
            <a:off x="6373368" y="2779776"/>
            <a:ext cx="160934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Application sent</a:t>
            </a:r>
            <a:endParaRPr lang="en-US" sz="1300" dirty="0"/>
          </a:p>
        </p:txBody>
      </p:sp>
      <p:sp>
        <p:nvSpPr>
          <p:cNvPr id="26" name="Text 24"/>
          <p:cNvSpPr/>
          <p:nvPr/>
        </p:nvSpPr>
        <p:spPr>
          <a:xfrm>
            <a:off x="6373368" y="3246120"/>
            <a:ext cx="1664208" cy="512064"/>
          </a:xfrm>
          <a:prstGeom prst="rect">
            <a:avLst/>
          </a:prstGeom>
          <a:noFill/>
          <a:ln/>
        </p:spPr>
        <p:txBody>
          <a:bodyPr wrap="square" lIns="0" tIns="0" rIns="0" bIns="0" rtlCol="0" anchor="t">
            <a:normAutofit/>
          </a:bodyPr>
          <a:lstStyle/>
          <a:p>
            <a:pPr indent="0" marL="0">
              <a:buNone/>
            </a:pPr>
            <a:r>
              <a:rPr lang="en-US" sz="920" dirty="0">
                <a:solidFill>
                  <a:srgbClr val="AAB7CC"/>
                </a:solidFill>
              </a:rPr>
              <a:t>Cover letter and resume connect the student to the vacancy</a:t>
            </a:r>
            <a:endParaRPr lang="en-US" sz="920" dirty="0"/>
          </a:p>
        </p:txBody>
      </p:sp>
      <p:sp>
        <p:nvSpPr>
          <p:cNvPr id="27" name="Shape 25"/>
          <p:cNvSpPr/>
          <p:nvPr/>
        </p:nvSpPr>
        <p:spPr>
          <a:xfrm>
            <a:off x="6199632" y="3968496"/>
            <a:ext cx="2057400" cy="73152"/>
          </a:xfrm>
          <a:prstGeom prst="rect">
            <a:avLst/>
          </a:prstGeom>
          <a:solidFill>
            <a:srgbClr val="80F2A1"/>
          </a:solidFill>
          <a:ln w="6350">
            <a:solidFill>
              <a:srgbClr val="80F2A1">
                <a:alpha val="0"/>
              </a:srgbClr>
            </a:solidFill>
            <a:prstDash val="solid"/>
          </a:ln>
        </p:spPr>
      </p:sp>
      <p:sp>
        <p:nvSpPr>
          <p:cNvPr id="28" name="Shape 26"/>
          <p:cNvSpPr/>
          <p:nvPr/>
        </p:nvSpPr>
        <p:spPr>
          <a:xfrm>
            <a:off x="8942832" y="2121408"/>
            <a:ext cx="2057400" cy="2011680"/>
          </a:xfrm>
          <a:prstGeom prst="roundRect">
            <a:avLst>
              <a:gd name="adj" fmla="val 7273"/>
            </a:avLst>
          </a:prstGeom>
          <a:solidFill>
            <a:srgbClr val="101827"/>
          </a:solidFill>
          <a:ln w="12700">
            <a:solidFill>
              <a:srgbClr val="25344C"/>
            </a:solidFill>
            <a:prstDash val="solid"/>
          </a:ln>
        </p:spPr>
      </p:sp>
      <p:sp>
        <p:nvSpPr>
          <p:cNvPr id="29" name="Text 27"/>
          <p:cNvSpPr/>
          <p:nvPr/>
        </p:nvSpPr>
        <p:spPr>
          <a:xfrm>
            <a:off x="9116568" y="2331720"/>
            <a:ext cx="384048" cy="310896"/>
          </a:xfrm>
          <a:prstGeom prst="rect">
            <a:avLst/>
          </a:prstGeom>
          <a:noFill/>
          <a:ln/>
        </p:spPr>
        <p:txBody>
          <a:bodyPr wrap="square" lIns="0" tIns="0" rIns="0" bIns="0" rtlCol="0" anchor="ctr"/>
          <a:lstStyle/>
          <a:p>
            <a:pPr indent="0" marL="0">
              <a:buNone/>
            </a:pPr>
            <a:r>
              <a:rPr lang="en-US" sz="1900" b="1" dirty="0">
                <a:solidFill>
                  <a:srgbClr val="FFD166"/>
                </a:solidFill>
              </a:rPr>
              <a:t>4</a:t>
            </a:r>
            <a:endParaRPr lang="en-US" sz="1900" dirty="0"/>
          </a:p>
        </p:txBody>
      </p:sp>
      <p:sp>
        <p:nvSpPr>
          <p:cNvPr id="30" name="Text 28"/>
          <p:cNvSpPr/>
          <p:nvPr/>
        </p:nvSpPr>
        <p:spPr>
          <a:xfrm>
            <a:off x="9116568" y="2779776"/>
            <a:ext cx="1609344" cy="256032"/>
          </a:xfrm>
          <a:prstGeom prst="rect">
            <a:avLst/>
          </a:prstGeom>
          <a:noFill/>
          <a:ln/>
        </p:spPr>
        <p:txBody>
          <a:bodyPr wrap="square" lIns="0" tIns="0" rIns="0" bIns="0" rtlCol="0" anchor="ctr">
            <a:normAutofit/>
          </a:bodyPr>
          <a:lstStyle/>
          <a:p>
            <a:pPr indent="0" marL="0">
              <a:buNone/>
            </a:pPr>
            <a:r>
              <a:rPr lang="en-US" sz="1300" b="1" dirty="0">
                <a:solidFill>
                  <a:srgbClr val="F7FAFC"/>
                </a:solidFill>
              </a:rPr>
              <a:t>Status reviewed</a:t>
            </a:r>
            <a:endParaRPr lang="en-US" sz="1300" dirty="0"/>
          </a:p>
        </p:txBody>
      </p:sp>
      <p:sp>
        <p:nvSpPr>
          <p:cNvPr id="31" name="Text 29"/>
          <p:cNvSpPr/>
          <p:nvPr/>
        </p:nvSpPr>
        <p:spPr>
          <a:xfrm>
            <a:off x="9116568" y="3246120"/>
            <a:ext cx="1664208" cy="512064"/>
          </a:xfrm>
          <a:prstGeom prst="rect">
            <a:avLst/>
          </a:prstGeom>
          <a:noFill/>
          <a:ln/>
        </p:spPr>
        <p:txBody>
          <a:bodyPr wrap="square" lIns="0" tIns="0" rIns="0" bIns="0" rtlCol="0" anchor="t">
            <a:normAutofit/>
          </a:bodyPr>
          <a:lstStyle/>
          <a:p>
            <a:pPr indent="0" marL="0">
              <a:buNone/>
            </a:pPr>
            <a:r>
              <a:rPr lang="en-US" sz="920" dirty="0">
                <a:solidFill>
                  <a:srgbClr val="AAB7CC"/>
                </a:solidFill>
              </a:rPr>
              <a:t>Pending, reviewed, accepted, or rejected</a:t>
            </a:r>
            <a:endParaRPr lang="en-US" sz="920" dirty="0"/>
          </a:p>
        </p:txBody>
      </p:sp>
      <p:sp>
        <p:nvSpPr>
          <p:cNvPr id="32" name="Shape 30"/>
          <p:cNvSpPr/>
          <p:nvPr/>
        </p:nvSpPr>
        <p:spPr>
          <a:xfrm>
            <a:off x="8942832" y="3968496"/>
            <a:ext cx="2057400" cy="73152"/>
          </a:xfrm>
          <a:prstGeom prst="rect">
            <a:avLst/>
          </a:prstGeom>
          <a:solidFill>
            <a:srgbClr val="FFD166"/>
          </a:solidFill>
          <a:ln w="6350">
            <a:solidFill>
              <a:srgbClr val="FFD166">
                <a:alpha val="0"/>
              </a:srgbClr>
            </a:solidFill>
            <a:prstDash val="solid"/>
          </a:ln>
        </p:spPr>
      </p:sp>
      <p:sp>
        <p:nvSpPr>
          <p:cNvPr id="33" name="Shape 31"/>
          <p:cNvSpPr/>
          <p:nvPr/>
        </p:nvSpPr>
        <p:spPr>
          <a:xfrm>
            <a:off x="1005840" y="5138928"/>
            <a:ext cx="10149840" cy="749808"/>
          </a:xfrm>
          <a:prstGeom prst="roundRect">
            <a:avLst>
              <a:gd name="adj" fmla="val 17073"/>
            </a:avLst>
          </a:prstGeom>
          <a:solidFill>
            <a:srgbClr val="121D31"/>
          </a:solidFill>
          <a:ln w="12700">
            <a:solidFill>
              <a:srgbClr val="1F2A44"/>
            </a:solidFill>
            <a:prstDash val="solid"/>
          </a:ln>
        </p:spPr>
      </p:sp>
      <p:sp>
        <p:nvSpPr>
          <p:cNvPr id="34" name="Text 32"/>
          <p:cNvSpPr/>
          <p:nvPr/>
        </p:nvSpPr>
        <p:spPr>
          <a:xfrm>
            <a:off x="1298448" y="5404104"/>
            <a:ext cx="9555480" cy="228600"/>
          </a:xfrm>
          <a:prstGeom prst="rect">
            <a:avLst/>
          </a:prstGeom>
          <a:noFill/>
          <a:ln/>
        </p:spPr>
        <p:txBody>
          <a:bodyPr wrap="square" lIns="0" tIns="0" rIns="0" bIns="0" rtlCol="0" anchor="t">
            <a:normAutofit/>
          </a:bodyPr>
          <a:lstStyle/>
          <a:p>
            <a:pPr indent="0" marL="0">
              <a:buNone/>
            </a:pPr>
            <a:r>
              <a:rPr lang="en-US" sz="1150" dirty="0">
                <a:solidFill>
                  <a:srgbClr val="F7FAFC"/>
                </a:solidFill>
              </a:rPr>
              <a:t>The main model connection is the Application: it belongs to one Student and one Vacancy, but it also stores extra career data like status, cover letter, and uploaded resume.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04</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Users and permissions</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system is designed around controlled access, not open editing.</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4206240" y="3246120"/>
            <a:ext cx="1508760" cy="0"/>
          </a:xfrm>
          <a:prstGeom prst="line">
            <a:avLst/>
          </a:prstGeom>
          <a:noFill/>
          <a:ln w="19050">
            <a:solidFill>
              <a:srgbClr val="233148"/>
            </a:solidFill>
            <a:prstDash val="solid"/>
            <a:headEnd type="none"/>
            <a:tailEnd type="triangle"/>
          </a:ln>
        </p:spPr>
      </p:sp>
      <p:sp>
        <p:nvSpPr>
          <p:cNvPr id="11" name="Shape 9"/>
          <p:cNvSpPr/>
          <p:nvPr/>
        </p:nvSpPr>
        <p:spPr>
          <a:xfrm>
            <a:off x="7543800" y="3246120"/>
            <a:ext cx="1508760" cy="0"/>
          </a:xfrm>
          <a:prstGeom prst="line">
            <a:avLst/>
          </a:prstGeom>
          <a:noFill/>
          <a:ln w="19050">
            <a:solidFill>
              <a:srgbClr val="233148"/>
            </a:solidFill>
            <a:prstDash val="solid"/>
            <a:headEnd type="none"/>
            <a:tailEnd type="triangle"/>
          </a:ln>
        </p:spPr>
      </p:sp>
      <p:sp>
        <p:nvSpPr>
          <p:cNvPr id="12" name="Shape 10"/>
          <p:cNvSpPr/>
          <p:nvPr/>
        </p:nvSpPr>
        <p:spPr>
          <a:xfrm>
            <a:off x="914400" y="2212848"/>
            <a:ext cx="2880360" cy="2011680"/>
          </a:xfrm>
          <a:prstGeom prst="roundRect">
            <a:avLst>
              <a:gd name="adj" fmla="val 5455"/>
            </a:avLst>
          </a:prstGeom>
          <a:solidFill>
            <a:srgbClr val="101827"/>
          </a:solidFill>
          <a:ln w="12700">
            <a:solidFill>
              <a:srgbClr val="25344C"/>
            </a:solidFill>
            <a:prstDash val="solid"/>
          </a:ln>
        </p:spPr>
      </p:sp>
      <p:sp>
        <p:nvSpPr>
          <p:cNvPr id="13" name="Shape 11"/>
          <p:cNvSpPr/>
          <p:nvPr/>
        </p:nvSpPr>
        <p:spPr>
          <a:xfrm>
            <a:off x="914400" y="2212848"/>
            <a:ext cx="73152" cy="2011680"/>
          </a:xfrm>
          <a:prstGeom prst="rect">
            <a:avLst/>
          </a:prstGeom>
          <a:solidFill>
            <a:srgbClr val="A78BFA"/>
          </a:solidFill>
          <a:ln w="6350">
            <a:solidFill>
              <a:srgbClr val="A78BFA">
                <a:alpha val="0"/>
              </a:srgbClr>
            </a:solidFill>
            <a:prstDash val="solid"/>
          </a:ln>
        </p:spPr>
      </p:sp>
      <p:sp>
        <p:nvSpPr>
          <p:cNvPr id="14" name="Text 12"/>
          <p:cNvSpPr/>
          <p:nvPr/>
        </p:nvSpPr>
        <p:spPr>
          <a:xfrm>
            <a:off x="1115568" y="2377440"/>
            <a:ext cx="256946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Guest</a:t>
            </a:r>
            <a:endParaRPr lang="en-US" sz="1220" dirty="0"/>
          </a:p>
        </p:txBody>
      </p:sp>
      <p:sp>
        <p:nvSpPr>
          <p:cNvPr id="15" name="Text 13"/>
          <p:cNvSpPr/>
          <p:nvPr/>
        </p:nvSpPr>
        <p:spPr>
          <a:xfrm>
            <a:off x="1115568" y="2743200"/>
            <a:ext cx="2551176" cy="1298448"/>
          </a:xfrm>
          <a:prstGeom prst="rect">
            <a:avLst/>
          </a:prstGeom>
          <a:noFill/>
          <a:ln/>
        </p:spPr>
        <p:txBody>
          <a:bodyPr wrap="square" lIns="0" tIns="0" rIns="0" bIns="0" rtlCol="0" anchor="t">
            <a:normAutofit/>
          </a:bodyPr>
          <a:lstStyle/>
          <a:p>
            <a:pPr indent="0" marL="0">
              <a:buNone/>
            </a:pPr>
            <a:r>
              <a:rPr lang="en-US" sz="930" dirty="0">
                <a:solidFill>
                  <a:srgbClr val="AAB7CC"/>
                </a:solidFill>
              </a:rPr>
              <a:t>Can view the public entry point and use register/login pages.</a:t>
            </a:r>
            <a:endParaRPr lang="en-US" sz="930" dirty="0"/>
          </a:p>
        </p:txBody>
      </p:sp>
      <p:sp>
        <p:nvSpPr>
          <p:cNvPr id="16" name="Shape 14"/>
          <p:cNvSpPr/>
          <p:nvPr/>
        </p:nvSpPr>
        <p:spPr>
          <a:xfrm>
            <a:off x="4663440" y="2212848"/>
            <a:ext cx="2880360" cy="2011680"/>
          </a:xfrm>
          <a:prstGeom prst="roundRect">
            <a:avLst>
              <a:gd name="adj" fmla="val 5455"/>
            </a:avLst>
          </a:prstGeom>
          <a:solidFill>
            <a:srgbClr val="101827"/>
          </a:solidFill>
          <a:ln w="12700">
            <a:solidFill>
              <a:srgbClr val="25344C"/>
            </a:solidFill>
            <a:prstDash val="solid"/>
          </a:ln>
        </p:spPr>
      </p:sp>
      <p:sp>
        <p:nvSpPr>
          <p:cNvPr id="17" name="Shape 15"/>
          <p:cNvSpPr/>
          <p:nvPr/>
        </p:nvSpPr>
        <p:spPr>
          <a:xfrm>
            <a:off x="4663440" y="2212848"/>
            <a:ext cx="73152" cy="2011680"/>
          </a:xfrm>
          <a:prstGeom prst="rect">
            <a:avLst/>
          </a:prstGeom>
          <a:solidFill>
            <a:srgbClr val="00B7FF"/>
          </a:solidFill>
          <a:ln w="6350">
            <a:solidFill>
              <a:srgbClr val="00B7FF">
                <a:alpha val="0"/>
              </a:srgbClr>
            </a:solidFill>
            <a:prstDash val="solid"/>
          </a:ln>
        </p:spPr>
      </p:sp>
      <p:sp>
        <p:nvSpPr>
          <p:cNvPr id="18" name="Text 16"/>
          <p:cNvSpPr/>
          <p:nvPr/>
        </p:nvSpPr>
        <p:spPr>
          <a:xfrm>
            <a:off x="4864608" y="2377440"/>
            <a:ext cx="256946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Authenticated user</a:t>
            </a:r>
            <a:endParaRPr lang="en-US" sz="1220" dirty="0"/>
          </a:p>
        </p:txBody>
      </p:sp>
      <p:sp>
        <p:nvSpPr>
          <p:cNvPr id="19" name="Text 17"/>
          <p:cNvSpPr/>
          <p:nvPr/>
        </p:nvSpPr>
        <p:spPr>
          <a:xfrm>
            <a:off x="4864608" y="2743200"/>
            <a:ext cx="2551176" cy="1298448"/>
          </a:xfrm>
          <a:prstGeom prst="rect">
            <a:avLst/>
          </a:prstGeom>
          <a:noFill/>
          <a:ln/>
        </p:spPr>
        <p:txBody>
          <a:bodyPr wrap="square" lIns="0" tIns="0" rIns="0" bIns="0" rtlCol="0" anchor="t">
            <a:normAutofit/>
          </a:bodyPr>
          <a:lstStyle/>
          <a:p>
            <a:pPr indent="0" marL="0">
              <a:buNone/>
            </a:pPr>
            <a:r>
              <a:rPr lang="en-US" sz="930" dirty="0">
                <a:solidFill>
                  <a:srgbClr val="AAB7CC"/>
                </a:solidFill>
              </a:rPr>
              <a:t>Can access the dashboard and main management pages after login.</a:t>
            </a:r>
            <a:endParaRPr lang="en-US" sz="930" dirty="0"/>
          </a:p>
        </p:txBody>
      </p:sp>
      <p:sp>
        <p:nvSpPr>
          <p:cNvPr id="20" name="Shape 18"/>
          <p:cNvSpPr/>
          <p:nvPr/>
        </p:nvSpPr>
        <p:spPr>
          <a:xfrm>
            <a:off x="8412480" y="2212848"/>
            <a:ext cx="2880360" cy="2011680"/>
          </a:xfrm>
          <a:prstGeom prst="roundRect">
            <a:avLst>
              <a:gd name="adj" fmla="val 5455"/>
            </a:avLst>
          </a:prstGeom>
          <a:solidFill>
            <a:srgbClr val="101827"/>
          </a:solidFill>
          <a:ln w="12700">
            <a:solidFill>
              <a:srgbClr val="25344C"/>
            </a:solidFill>
            <a:prstDash val="solid"/>
          </a:ln>
        </p:spPr>
      </p:sp>
      <p:sp>
        <p:nvSpPr>
          <p:cNvPr id="21" name="Shape 19"/>
          <p:cNvSpPr/>
          <p:nvPr/>
        </p:nvSpPr>
        <p:spPr>
          <a:xfrm>
            <a:off x="8412480" y="2212848"/>
            <a:ext cx="73152" cy="2011680"/>
          </a:xfrm>
          <a:prstGeom prst="rect">
            <a:avLst/>
          </a:prstGeom>
          <a:solidFill>
            <a:srgbClr val="34E6C2"/>
          </a:solidFill>
          <a:ln w="6350">
            <a:solidFill>
              <a:srgbClr val="34E6C2">
                <a:alpha val="0"/>
              </a:srgbClr>
            </a:solidFill>
            <a:prstDash val="solid"/>
          </a:ln>
        </p:spPr>
      </p:sp>
      <p:sp>
        <p:nvSpPr>
          <p:cNvPr id="22" name="Text 20"/>
          <p:cNvSpPr/>
          <p:nvPr/>
        </p:nvSpPr>
        <p:spPr>
          <a:xfrm>
            <a:off x="8613648" y="2377440"/>
            <a:ext cx="256946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Admin</a:t>
            </a:r>
            <a:endParaRPr lang="en-US" sz="1220" dirty="0"/>
          </a:p>
        </p:txBody>
      </p:sp>
      <p:sp>
        <p:nvSpPr>
          <p:cNvPr id="23" name="Text 21"/>
          <p:cNvSpPr/>
          <p:nvPr/>
        </p:nvSpPr>
        <p:spPr>
          <a:xfrm>
            <a:off x="8613648" y="2743200"/>
            <a:ext cx="2551176" cy="1298448"/>
          </a:xfrm>
          <a:prstGeom prst="rect">
            <a:avLst/>
          </a:prstGeom>
          <a:noFill/>
          <a:ln/>
        </p:spPr>
        <p:txBody>
          <a:bodyPr wrap="square" lIns="0" tIns="0" rIns="0" bIns="0" rtlCol="0" anchor="t">
            <a:normAutofit/>
          </a:bodyPr>
          <a:lstStyle/>
          <a:p>
            <a:pPr indent="0" marL="0">
              <a:buNone/>
            </a:pPr>
            <a:r>
              <a:rPr lang="en-US" sz="930" dirty="0">
                <a:solidFill>
                  <a:srgbClr val="AAB7CC"/>
                </a:solidFill>
              </a:rPr>
              <a:t>Can create, edit, delete, and toggle protected resources such as vacancies and tasks.</a:t>
            </a:r>
            <a:endParaRPr lang="en-US" sz="930" dirty="0"/>
          </a:p>
        </p:txBody>
      </p:sp>
      <p:sp>
        <p:nvSpPr>
          <p:cNvPr id="24" name="Shape 22"/>
          <p:cNvSpPr/>
          <p:nvPr/>
        </p:nvSpPr>
        <p:spPr>
          <a:xfrm>
            <a:off x="1828800" y="5138928"/>
            <a:ext cx="8458200" cy="640080"/>
          </a:xfrm>
          <a:prstGeom prst="roundRect">
            <a:avLst>
              <a:gd name="adj" fmla="val 20000"/>
            </a:avLst>
          </a:prstGeom>
          <a:solidFill>
            <a:srgbClr val="0D1524"/>
          </a:solidFill>
          <a:ln w="12700">
            <a:solidFill>
              <a:srgbClr val="1F2A44"/>
            </a:solidFill>
            <a:prstDash val="solid"/>
          </a:ln>
        </p:spPr>
      </p:sp>
      <p:sp>
        <p:nvSpPr>
          <p:cNvPr id="25" name="Text 23"/>
          <p:cNvSpPr/>
          <p:nvPr/>
        </p:nvSpPr>
        <p:spPr>
          <a:xfrm>
            <a:off x="2139696" y="5367528"/>
            <a:ext cx="7882128" cy="201168"/>
          </a:xfrm>
          <a:prstGeom prst="rect">
            <a:avLst/>
          </a:prstGeom>
          <a:noFill/>
          <a:ln/>
        </p:spPr>
        <p:txBody>
          <a:bodyPr wrap="square" lIns="0" tIns="0" rIns="0" bIns="0" rtlCol="0" anchor="t">
            <a:normAutofit/>
          </a:bodyPr>
          <a:lstStyle/>
          <a:p>
            <a:pPr indent="0" marL="0">
              <a:buNone/>
            </a:pPr>
            <a:r>
              <a:rPr lang="en-US" sz="1120" dirty="0">
                <a:solidFill>
                  <a:srgbClr val="F7FAFC"/>
                </a:solidFill>
              </a:rPr>
              <a:t>In code, this is handled by route middleware: guest routes for login/register, auth routes for protected pages, and admin middleware for high-control actions.</a:t>
            </a:r>
            <a:endParaRPr lang="en-US" sz="11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05</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From midterm base to final Laravel system</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I did not restart the work — I expanded the midterm into a complete backend project.</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777240" y="1719072"/>
            <a:ext cx="4434840" cy="3456432"/>
          </a:xfrm>
          <a:prstGeom prst="roundRect">
            <a:avLst>
              <a:gd name="adj" fmla="val 4233"/>
            </a:avLst>
          </a:prstGeom>
          <a:solidFill>
            <a:srgbClr val="101827"/>
          </a:solidFill>
          <a:ln w="12700">
            <a:solidFill>
              <a:srgbClr val="25344C"/>
            </a:solidFill>
            <a:prstDash val="solid"/>
          </a:ln>
        </p:spPr>
      </p:sp>
      <p:sp>
        <p:nvSpPr>
          <p:cNvPr id="11" name="Text 9"/>
          <p:cNvSpPr/>
          <p:nvPr/>
        </p:nvSpPr>
        <p:spPr>
          <a:xfrm>
            <a:off x="1051560" y="2011680"/>
            <a:ext cx="2377440" cy="274320"/>
          </a:xfrm>
          <a:prstGeom prst="rect">
            <a:avLst/>
          </a:prstGeom>
          <a:noFill/>
          <a:ln/>
        </p:spPr>
        <p:txBody>
          <a:bodyPr wrap="square" lIns="0" tIns="0" rIns="0" bIns="0" rtlCol="0" anchor="ctr"/>
          <a:lstStyle/>
          <a:p>
            <a:pPr indent="0" marL="0">
              <a:buNone/>
            </a:pPr>
            <a:r>
              <a:rPr lang="en-US" sz="1700" b="1" dirty="0">
                <a:solidFill>
                  <a:srgbClr val="00B7FF"/>
                </a:solidFill>
              </a:rPr>
              <a:t>Midterm foundation</a:t>
            </a:r>
            <a:endParaRPr lang="en-US" sz="1700" dirty="0"/>
          </a:p>
        </p:txBody>
      </p:sp>
      <p:sp>
        <p:nvSpPr>
          <p:cNvPr id="12" name="Text 10"/>
          <p:cNvSpPr/>
          <p:nvPr/>
        </p:nvSpPr>
        <p:spPr>
          <a:xfrm>
            <a:off x="1097280" y="2542032"/>
            <a:ext cx="3429000" cy="1783080"/>
          </a:xfrm>
          <a:prstGeom prst="rect">
            <a:avLst/>
          </a:prstGeom>
          <a:noFill/>
          <a:ln/>
        </p:spPr>
        <p:txBody>
          <a:bodyPr wrap="square" lIns="762" tIns="762" rIns="762" bIns="762" rtlCol="0" anchor="t">
            <a:normAutofit/>
          </a:bodyPr>
          <a:lstStyle/>
          <a:p>
            <a:r>
              <a:rPr lang="en-US" sz="1400" dirty="0">
                <a:solidFill>
                  <a:srgbClr val="F7FAFC"/>
                </a:solidFill>
              </a:rPr>
              <a:t>Vacancy pages</a:t>
            </a:r>
            <a:endParaRPr lang="en-US" sz="1400" dirty="0"/>
          </a:p>
          <a:p>
            <a:r>
              <a:rPr lang="en-US" sz="1400" dirty="0">
                <a:solidFill>
                  <a:srgbClr val="F7FAFC"/>
                </a:solidFill>
              </a:rPr>
              <a:t>Student pages</a:t>
            </a:r>
            <a:endParaRPr lang="en-US" sz="1400" dirty="0"/>
          </a:p>
          <a:p>
            <a:r>
              <a:rPr lang="en-US" sz="1400" dirty="0">
                <a:solidFill>
                  <a:srgbClr val="F7FAFC"/>
                </a:solidFill>
              </a:rPr>
              <a:t>Tasks</a:t>
            </a:r>
            <a:endParaRPr lang="en-US" sz="1400" dirty="0"/>
          </a:p>
          <a:p>
            <a:r>
              <a:rPr lang="en-US" sz="1400" dirty="0">
                <a:solidFill>
                  <a:srgbClr val="F7FAFC"/>
                </a:solidFill>
              </a:rPr>
              <a:t>Dashboard</a:t>
            </a:r>
            <a:endParaRPr lang="en-US" sz="1400" dirty="0"/>
          </a:p>
          <a:p>
            <a:r>
              <a:rPr lang="en-US" sz="1400" dirty="0">
                <a:solidFill>
                  <a:srgbClr val="F7FAFC"/>
                </a:solidFill>
              </a:rPr>
              <a:t>Basic Blade UI</a:t>
            </a:r>
            <a:endParaRPr lang="en-US" sz="1400" dirty="0"/>
          </a:p>
        </p:txBody>
      </p:sp>
      <p:sp>
        <p:nvSpPr>
          <p:cNvPr id="13" name="Shape 11"/>
          <p:cNvSpPr/>
          <p:nvPr/>
        </p:nvSpPr>
        <p:spPr>
          <a:xfrm>
            <a:off x="5468112" y="3429000"/>
            <a:ext cx="978408" cy="0"/>
          </a:xfrm>
          <a:prstGeom prst="line">
            <a:avLst/>
          </a:prstGeom>
          <a:noFill/>
          <a:ln w="33020">
            <a:solidFill>
              <a:srgbClr val="34E6C2"/>
            </a:solidFill>
            <a:prstDash val="solid"/>
            <a:headEnd type="none"/>
            <a:tailEnd type="triangle"/>
          </a:ln>
        </p:spPr>
      </p:sp>
      <p:sp>
        <p:nvSpPr>
          <p:cNvPr id="14" name="Text 12"/>
          <p:cNvSpPr/>
          <p:nvPr/>
        </p:nvSpPr>
        <p:spPr>
          <a:xfrm>
            <a:off x="5413248" y="3017520"/>
            <a:ext cx="658368" cy="182880"/>
          </a:xfrm>
          <a:prstGeom prst="rect">
            <a:avLst/>
          </a:prstGeom>
          <a:noFill/>
          <a:ln/>
        </p:spPr>
        <p:txBody>
          <a:bodyPr wrap="square" lIns="0" tIns="0" rIns="0" bIns="0" rtlCol="0" anchor="ctr"/>
          <a:lstStyle/>
          <a:p>
            <a:pPr indent="0" marL="0">
              <a:buNone/>
            </a:pPr>
            <a:r>
              <a:rPr lang="en-US" sz="830" b="1" dirty="0">
                <a:solidFill>
                  <a:srgbClr val="34E6C2"/>
                </a:solidFill>
              </a:rPr>
              <a:t>scaled</a:t>
            </a:r>
            <a:endParaRPr lang="en-US" sz="830" dirty="0"/>
          </a:p>
        </p:txBody>
      </p:sp>
      <p:sp>
        <p:nvSpPr>
          <p:cNvPr id="15" name="Shape 13"/>
          <p:cNvSpPr/>
          <p:nvPr/>
        </p:nvSpPr>
        <p:spPr>
          <a:xfrm>
            <a:off x="6565392" y="1719072"/>
            <a:ext cx="4526280" cy="3456432"/>
          </a:xfrm>
          <a:prstGeom prst="roundRect">
            <a:avLst>
              <a:gd name="adj" fmla="val 4233"/>
            </a:avLst>
          </a:prstGeom>
          <a:solidFill>
            <a:srgbClr val="101827"/>
          </a:solidFill>
          <a:ln w="12700">
            <a:solidFill>
              <a:srgbClr val="25344C"/>
            </a:solidFill>
            <a:prstDash val="solid"/>
          </a:ln>
        </p:spPr>
      </p:sp>
      <p:sp>
        <p:nvSpPr>
          <p:cNvPr id="16" name="Text 14"/>
          <p:cNvSpPr/>
          <p:nvPr/>
        </p:nvSpPr>
        <p:spPr>
          <a:xfrm>
            <a:off x="6839712" y="2011680"/>
            <a:ext cx="2834640" cy="274320"/>
          </a:xfrm>
          <a:prstGeom prst="rect">
            <a:avLst/>
          </a:prstGeom>
          <a:noFill/>
          <a:ln/>
        </p:spPr>
        <p:txBody>
          <a:bodyPr wrap="square" lIns="0" tIns="0" rIns="0" bIns="0" rtlCol="0" anchor="ctr"/>
          <a:lstStyle/>
          <a:p>
            <a:pPr indent="0" marL="0">
              <a:buNone/>
            </a:pPr>
            <a:r>
              <a:rPr lang="en-US" sz="1700" b="1" dirty="0">
                <a:solidFill>
                  <a:srgbClr val="34E6C2"/>
                </a:solidFill>
              </a:rPr>
              <a:t>Final backend upgrade</a:t>
            </a:r>
            <a:endParaRPr lang="en-US" sz="1700" dirty="0"/>
          </a:p>
        </p:txBody>
      </p:sp>
      <p:sp>
        <p:nvSpPr>
          <p:cNvPr id="17" name="Text 15"/>
          <p:cNvSpPr/>
          <p:nvPr/>
        </p:nvSpPr>
        <p:spPr>
          <a:xfrm>
            <a:off x="6885432" y="2542032"/>
            <a:ext cx="3611880" cy="1965960"/>
          </a:xfrm>
          <a:prstGeom prst="rect">
            <a:avLst/>
          </a:prstGeom>
          <a:noFill/>
          <a:ln/>
        </p:spPr>
        <p:txBody>
          <a:bodyPr wrap="square" lIns="762" tIns="762" rIns="762" bIns="762" rtlCol="0" anchor="t">
            <a:normAutofit/>
          </a:bodyPr>
          <a:lstStyle/>
          <a:p>
            <a:r>
              <a:rPr lang="en-US" sz="1400" dirty="0">
                <a:solidFill>
                  <a:srgbClr val="F7FAFC"/>
                </a:solidFill>
              </a:rPr>
              <a:t>Authentication + roles</a:t>
            </a:r>
            <a:endParaRPr lang="en-US" sz="1400" dirty="0"/>
          </a:p>
          <a:p>
            <a:r>
              <a:rPr lang="en-US" sz="1400" dirty="0">
                <a:solidFill>
                  <a:srgbClr val="F7FAFC"/>
                </a:solidFill>
              </a:rPr>
              <a:t>Admin middleware</a:t>
            </a:r>
            <a:endParaRPr lang="en-US" sz="1400" dirty="0"/>
          </a:p>
          <a:p>
            <a:r>
              <a:rPr lang="en-US" sz="1400" dirty="0">
                <a:solidFill>
                  <a:srgbClr val="F7FAFC"/>
                </a:solidFill>
              </a:rPr>
              <a:t>FormRequest validation</a:t>
            </a:r>
            <a:endParaRPr lang="en-US" sz="1400" dirty="0"/>
          </a:p>
          <a:p>
            <a:r>
              <a:rPr lang="en-US" sz="1400" dirty="0">
                <a:solidFill>
                  <a:srgbClr val="F7FAFC"/>
                </a:solidFill>
              </a:rPr>
              <a:t>File uploads</a:t>
            </a:r>
            <a:endParaRPr lang="en-US" sz="1400" dirty="0"/>
          </a:p>
          <a:p>
            <a:r>
              <a:rPr lang="en-US" sz="1400" dirty="0">
                <a:solidFill>
                  <a:srgbClr val="F7FAFC"/>
                </a:solidFill>
              </a:rPr>
              <a:t>Many-to-many relation</a:t>
            </a:r>
            <a:endParaRPr lang="en-US" sz="1400" dirty="0"/>
          </a:p>
          <a:p>
            <a:r>
              <a:rPr lang="en-US" sz="1400" dirty="0">
                <a:solidFill>
                  <a:srgbClr val="F7FAFC"/>
                </a:solidFill>
              </a:rPr>
              <a:t>API resources</a:t>
            </a:r>
            <a:endParaRPr lang="en-US" sz="1400" dirty="0"/>
          </a:p>
        </p:txBody>
      </p:sp>
      <p:sp>
        <p:nvSpPr>
          <p:cNvPr id="18" name="Shape 16"/>
          <p:cNvSpPr/>
          <p:nvPr/>
        </p:nvSpPr>
        <p:spPr>
          <a:xfrm>
            <a:off x="2148840" y="5650992"/>
            <a:ext cx="7726680" cy="438912"/>
          </a:xfrm>
          <a:prstGeom prst="roundRect">
            <a:avLst>
              <a:gd name="adj" fmla="val 25000"/>
            </a:avLst>
          </a:prstGeom>
          <a:solidFill>
            <a:srgbClr val="0D1524"/>
          </a:solidFill>
          <a:ln w="12700">
            <a:solidFill>
              <a:srgbClr val="1F2A44"/>
            </a:solidFill>
            <a:prstDash val="solid"/>
          </a:ln>
        </p:spPr>
      </p:sp>
      <p:sp>
        <p:nvSpPr>
          <p:cNvPr id="19" name="Text 17"/>
          <p:cNvSpPr/>
          <p:nvPr/>
        </p:nvSpPr>
        <p:spPr>
          <a:xfrm>
            <a:off x="2487168" y="5797296"/>
            <a:ext cx="7040880" cy="118872"/>
          </a:xfrm>
          <a:prstGeom prst="rect">
            <a:avLst/>
          </a:prstGeom>
          <a:noFill/>
          <a:ln/>
        </p:spPr>
        <p:txBody>
          <a:bodyPr wrap="square" lIns="0" tIns="0" rIns="0" bIns="0" rtlCol="0" anchor="t">
            <a:normAutofit/>
          </a:bodyPr>
          <a:lstStyle/>
          <a:p>
            <a:pPr indent="0" marL="0">
              <a:buNone/>
            </a:pPr>
            <a:r>
              <a:rPr lang="en-US" sz="940" b="1" dirty="0">
                <a:solidFill>
                  <a:srgbClr val="F7FAFC"/>
                </a:solidFill>
              </a:rPr>
              <a:t>The final version focuses on the Laravel requirements that prove real backend understanding.</a:t>
            </a:r>
            <a:endParaRPr lang="en-US" sz="9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06</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System architecture: Laravel layers</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project is organized using Laravel’s standard backend structure.</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1234440" y="1572768"/>
            <a:ext cx="9784080" cy="457200"/>
          </a:xfrm>
          <a:prstGeom prst="roundRect">
            <a:avLst>
              <a:gd name="adj" fmla="val 26000"/>
            </a:avLst>
          </a:prstGeom>
          <a:solidFill>
            <a:srgbClr val="101827"/>
          </a:solidFill>
          <a:ln w="12700">
            <a:solidFill>
              <a:srgbClr val="25344C"/>
            </a:solidFill>
            <a:prstDash val="solid"/>
          </a:ln>
        </p:spPr>
      </p:sp>
      <p:sp>
        <p:nvSpPr>
          <p:cNvPr id="11" name="Shape 9"/>
          <p:cNvSpPr/>
          <p:nvPr/>
        </p:nvSpPr>
        <p:spPr>
          <a:xfrm>
            <a:off x="1234440" y="1572768"/>
            <a:ext cx="73152" cy="457200"/>
          </a:xfrm>
          <a:prstGeom prst="rect">
            <a:avLst/>
          </a:prstGeom>
          <a:solidFill>
            <a:srgbClr val="00B7FF"/>
          </a:solidFill>
          <a:ln w="6350">
            <a:solidFill>
              <a:srgbClr val="00B7FF">
                <a:alpha val="0"/>
              </a:srgbClr>
            </a:solidFill>
            <a:prstDash val="solid"/>
          </a:ln>
        </p:spPr>
      </p:sp>
      <p:sp>
        <p:nvSpPr>
          <p:cNvPr id="12" name="Text 10"/>
          <p:cNvSpPr/>
          <p:nvPr/>
        </p:nvSpPr>
        <p:spPr>
          <a:xfrm>
            <a:off x="1481328" y="1700784"/>
            <a:ext cx="2194560" cy="146304"/>
          </a:xfrm>
          <a:prstGeom prst="rect">
            <a:avLst/>
          </a:prstGeom>
          <a:noFill/>
          <a:ln/>
        </p:spPr>
        <p:txBody>
          <a:bodyPr wrap="square" lIns="0" tIns="0" rIns="0" bIns="0" rtlCol="0" anchor="ctr"/>
          <a:lstStyle/>
          <a:p>
            <a:pPr indent="0" marL="0">
              <a:buNone/>
            </a:pPr>
            <a:r>
              <a:rPr lang="en-US" sz="1080" b="1" dirty="0">
                <a:solidFill>
                  <a:srgbClr val="F7FAFC"/>
                </a:solidFill>
              </a:rPr>
              <a:t>Blade Views</a:t>
            </a:r>
            <a:endParaRPr lang="en-US" sz="1080" dirty="0"/>
          </a:p>
        </p:txBody>
      </p:sp>
      <p:sp>
        <p:nvSpPr>
          <p:cNvPr id="13" name="Text 11"/>
          <p:cNvSpPr/>
          <p:nvPr/>
        </p:nvSpPr>
        <p:spPr>
          <a:xfrm>
            <a:off x="4023360" y="1700784"/>
            <a:ext cx="3749040" cy="146304"/>
          </a:xfrm>
          <a:prstGeom prst="rect">
            <a:avLst/>
          </a:prstGeom>
          <a:noFill/>
          <a:ln/>
        </p:spPr>
        <p:txBody>
          <a:bodyPr wrap="square" lIns="0" tIns="0" rIns="0" bIns="0" rtlCol="0" anchor="ctr"/>
          <a:lstStyle/>
          <a:p>
            <a:pPr indent="0" marL="0">
              <a:buNone/>
            </a:pPr>
            <a:r>
              <a:rPr lang="en-US" sz="920" dirty="0">
                <a:solidFill>
                  <a:srgbClr val="AAB7CC"/>
                </a:solidFill>
              </a:rPr>
              <a:t>resources/views</a:t>
            </a:r>
            <a:endParaRPr lang="en-US" sz="920" dirty="0"/>
          </a:p>
        </p:txBody>
      </p:sp>
      <p:sp>
        <p:nvSpPr>
          <p:cNvPr id="14" name="Shape 12"/>
          <p:cNvSpPr/>
          <p:nvPr/>
        </p:nvSpPr>
        <p:spPr>
          <a:xfrm>
            <a:off x="6080760" y="2029968"/>
            <a:ext cx="0" cy="201168"/>
          </a:xfrm>
          <a:prstGeom prst="line">
            <a:avLst/>
          </a:prstGeom>
          <a:noFill/>
          <a:ln w="13970">
            <a:solidFill>
              <a:srgbClr val="233148"/>
            </a:solidFill>
            <a:prstDash val="solid"/>
            <a:headEnd type="none"/>
            <a:tailEnd type="triangle"/>
          </a:ln>
        </p:spPr>
      </p:sp>
      <p:sp>
        <p:nvSpPr>
          <p:cNvPr id="15" name="Shape 13"/>
          <p:cNvSpPr/>
          <p:nvPr/>
        </p:nvSpPr>
        <p:spPr>
          <a:xfrm>
            <a:off x="1234440" y="2231136"/>
            <a:ext cx="9784080" cy="457200"/>
          </a:xfrm>
          <a:prstGeom prst="roundRect">
            <a:avLst>
              <a:gd name="adj" fmla="val 26000"/>
            </a:avLst>
          </a:prstGeom>
          <a:solidFill>
            <a:srgbClr val="101827"/>
          </a:solidFill>
          <a:ln w="12700">
            <a:solidFill>
              <a:srgbClr val="25344C"/>
            </a:solidFill>
            <a:prstDash val="solid"/>
          </a:ln>
        </p:spPr>
      </p:sp>
      <p:sp>
        <p:nvSpPr>
          <p:cNvPr id="16" name="Shape 14"/>
          <p:cNvSpPr/>
          <p:nvPr/>
        </p:nvSpPr>
        <p:spPr>
          <a:xfrm>
            <a:off x="1234440" y="2231136"/>
            <a:ext cx="73152" cy="457200"/>
          </a:xfrm>
          <a:prstGeom prst="rect">
            <a:avLst/>
          </a:prstGeom>
          <a:solidFill>
            <a:srgbClr val="34E6C2"/>
          </a:solidFill>
          <a:ln w="6350">
            <a:solidFill>
              <a:srgbClr val="34E6C2">
                <a:alpha val="0"/>
              </a:srgbClr>
            </a:solidFill>
            <a:prstDash val="solid"/>
          </a:ln>
        </p:spPr>
      </p:sp>
      <p:sp>
        <p:nvSpPr>
          <p:cNvPr id="17" name="Text 15"/>
          <p:cNvSpPr/>
          <p:nvPr/>
        </p:nvSpPr>
        <p:spPr>
          <a:xfrm>
            <a:off x="1481328" y="2359152"/>
            <a:ext cx="2194560" cy="146304"/>
          </a:xfrm>
          <a:prstGeom prst="rect">
            <a:avLst/>
          </a:prstGeom>
          <a:noFill/>
          <a:ln/>
        </p:spPr>
        <p:txBody>
          <a:bodyPr wrap="square" lIns="0" tIns="0" rIns="0" bIns="0" rtlCol="0" anchor="ctr"/>
          <a:lstStyle/>
          <a:p>
            <a:pPr indent="0" marL="0">
              <a:buNone/>
            </a:pPr>
            <a:r>
              <a:rPr lang="en-US" sz="1080" b="1" dirty="0">
                <a:solidFill>
                  <a:srgbClr val="F7FAFC"/>
                </a:solidFill>
              </a:rPr>
              <a:t>Routes</a:t>
            </a:r>
            <a:endParaRPr lang="en-US" sz="1080" dirty="0"/>
          </a:p>
        </p:txBody>
      </p:sp>
      <p:sp>
        <p:nvSpPr>
          <p:cNvPr id="18" name="Text 16"/>
          <p:cNvSpPr/>
          <p:nvPr/>
        </p:nvSpPr>
        <p:spPr>
          <a:xfrm>
            <a:off x="4023360" y="2359152"/>
            <a:ext cx="3749040" cy="146304"/>
          </a:xfrm>
          <a:prstGeom prst="rect">
            <a:avLst/>
          </a:prstGeom>
          <a:noFill/>
          <a:ln/>
        </p:spPr>
        <p:txBody>
          <a:bodyPr wrap="square" lIns="0" tIns="0" rIns="0" bIns="0" rtlCol="0" anchor="ctr"/>
          <a:lstStyle/>
          <a:p>
            <a:pPr indent="0" marL="0">
              <a:buNone/>
            </a:pPr>
            <a:r>
              <a:rPr lang="en-US" sz="920" dirty="0">
                <a:solidFill>
                  <a:srgbClr val="AAB7CC"/>
                </a:solidFill>
              </a:rPr>
              <a:t>routes/web.php + routes/api.php</a:t>
            </a:r>
            <a:endParaRPr lang="en-US" sz="920" dirty="0"/>
          </a:p>
        </p:txBody>
      </p:sp>
      <p:sp>
        <p:nvSpPr>
          <p:cNvPr id="19" name="Shape 17"/>
          <p:cNvSpPr/>
          <p:nvPr/>
        </p:nvSpPr>
        <p:spPr>
          <a:xfrm>
            <a:off x="6080760" y="2688336"/>
            <a:ext cx="0" cy="201168"/>
          </a:xfrm>
          <a:prstGeom prst="line">
            <a:avLst/>
          </a:prstGeom>
          <a:noFill/>
          <a:ln w="13970">
            <a:solidFill>
              <a:srgbClr val="233148"/>
            </a:solidFill>
            <a:prstDash val="solid"/>
            <a:headEnd type="none"/>
            <a:tailEnd type="triangle"/>
          </a:ln>
        </p:spPr>
      </p:sp>
      <p:sp>
        <p:nvSpPr>
          <p:cNvPr id="20" name="Shape 18"/>
          <p:cNvSpPr/>
          <p:nvPr/>
        </p:nvSpPr>
        <p:spPr>
          <a:xfrm>
            <a:off x="1234440" y="2889504"/>
            <a:ext cx="9784080" cy="457200"/>
          </a:xfrm>
          <a:prstGeom prst="roundRect">
            <a:avLst>
              <a:gd name="adj" fmla="val 26000"/>
            </a:avLst>
          </a:prstGeom>
          <a:solidFill>
            <a:srgbClr val="101827"/>
          </a:solidFill>
          <a:ln w="12700">
            <a:solidFill>
              <a:srgbClr val="25344C"/>
            </a:solidFill>
            <a:prstDash val="solid"/>
          </a:ln>
        </p:spPr>
      </p:sp>
      <p:sp>
        <p:nvSpPr>
          <p:cNvPr id="21" name="Shape 19"/>
          <p:cNvSpPr/>
          <p:nvPr/>
        </p:nvSpPr>
        <p:spPr>
          <a:xfrm>
            <a:off x="1234440" y="2889504"/>
            <a:ext cx="73152" cy="457200"/>
          </a:xfrm>
          <a:prstGeom prst="rect">
            <a:avLst/>
          </a:prstGeom>
          <a:solidFill>
            <a:srgbClr val="80F2A1"/>
          </a:solidFill>
          <a:ln w="6350">
            <a:solidFill>
              <a:srgbClr val="80F2A1">
                <a:alpha val="0"/>
              </a:srgbClr>
            </a:solidFill>
            <a:prstDash val="solid"/>
          </a:ln>
        </p:spPr>
      </p:sp>
      <p:sp>
        <p:nvSpPr>
          <p:cNvPr id="22" name="Text 20"/>
          <p:cNvSpPr/>
          <p:nvPr/>
        </p:nvSpPr>
        <p:spPr>
          <a:xfrm>
            <a:off x="1481328" y="3017520"/>
            <a:ext cx="2194560" cy="146304"/>
          </a:xfrm>
          <a:prstGeom prst="rect">
            <a:avLst/>
          </a:prstGeom>
          <a:noFill/>
          <a:ln/>
        </p:spPr>
        <p:txBody>
          <a:bodyPr wrap="square" lIns="0" tIns="0" rIns="0" bIns="0" rtlCol="0" anchor="ctr"/>
          <a:lstStyle/>
          <a:p>
            <a:pPr indent="0" marL="0">
              <a:buNone/>
            </a:pPr>
            <a:r>
              <a:rPr lang="en-US" sz="1080" b="1" dirty="0">
                <a:solidFill>
                  <a:srgbClr val="F7FAFC"/>
                </a:solidFill>
              </a:rPr>
              <a:t>Controllers</a:t>
            </a:r>
            <a:endParaRPr lang="en-US" sz="1080" dirty="0"/>
          </a:p>
        </p:txBody>
      </p:sp>
      <p:sp>
        <p:nvSpPr>
          <p:cNvPr id="23" name="Text 21"/>
          <p:cNvSpPr/>
          <p:nvPr/>
        </p:nvSpPr>
        <p:spPr>
          <a:xfrm>
            <a:off x="4023360" y="3017520"/>
            <a:ext cx="3749040" cy="146304"/>
          </a:xfrm>
          <a:prstGeom prst="rect">
            <a:avLst/>
          </a:prstGeom>
          <a:noFill/>
          <a:ln/>
        </p:spPr>
        <p:txBody>
          <a:bodyPr wrap="square" lIns="0" tIns="0" rIns="0" bIns="0" rtlCol="0" anchor="ctr"/>
          <a:lstStyle/>
          <a:p>
            <a:pPr indent="0" marL="0">
              <a:buNone/>
            </a:pPr>
            <a:r>
              <a:rPr lang="en-US" sz="920" dirty="0">
                <a:solidFill>
                  <a:srgbClr val="AAB7CC"/>
                </a:solidFill>
              </a:rPr>
              <a:t>app/Http/Controllers</a:t>
            </a:r>
            <a:endParaRPr lang="en-US" sz="920" dirty="0"/>
          </a:p>
        </p:txBody>
      </p:sp>
      <p:sp>
        <p:nvSpPr>
          <p:cNvPr id="24" name="Shape 22"/>
          <p:cNvSpPr/>
          <p:nvPr/>
        </p:nvSpPr>
        <p:spPr>
          <a:xfrm>
            <a:off x="6080760" y="3346704"/>
            <a:ext cx="0" cy="201168"/>
          </a:xfrm>
          <a:prstGeom prst="line">
            <a:avLst/>
          </a:prstGeom>
          <a:noFill/>
          <a:ln w="13970">
            <a:solidFill>
              <a:srgbClr val="233148"/>
            </a:solidFill>
            <a:prstDash val="solid"/>
            <a:headEnd type="none"/>
            <a:tailEnd type="triangle"/>
          </a:ln>
        </p:spPr>
      </p:sp>
      <p:sp>
        <p:nvSpPr>
          <p:cNvPr id="25" name="Shape 23"/>
          <p:cNvSpPr/>
          <p:nvPr/>
        </p:nvSpPr>
        <p:spPr>
          <a:xfrm>
            <a:off x="1234440" y="3547872"/>
            <a:ext cx="9784080" cy="457200"/>
          </a:xfrm>
          <a:prstGeom prst="roundRect">
            <a:avLst>
              <a:gd name="adj" fmla="val 26000"/>
            </a:avLst>
          </a:prstGeom>
          <a:solidFill>
            <a:srgbClr val="101827"/>
          </a:solidFill>
          <a:ln w="12700">
            <a:solidFill>
              <a:srgbClr val="25344C"/>
            </a:solidFill>
            <a:prstDash val="solid"/>
          </a:ln>
        </p:spPr>
      </p:sp>
      <p:sp>
        <p:nvSpPr>
          <p:cNvPr id="26" name="Shape 24"/>
          <p:cNvSpPr/>
          <p:nvPr/>
        </p:nvSpPr>
        <p:spPr>
          <a:xfrm>
            <a:off x="1234440" y="3547872"/>
            <a:ext cx="73152" cy="457200"/>
          </a:xfrm>
          <a:prstGeom prst="rect">
            <a:avLst/>
          </a:prstGeom>
          <a:solidFill>
            <a:srgbClr val="FFD166"/>
          </a:solidFill>
          <a:ln w="6350">
            <a:solidFill>
              <a:srgbClr val="FFD166">
                <a:alpha val="0"/>
              </a:srgbClr>
            </a:solidFill>
            <a:prstDash val="solid"/>
          </a:ln>
        </p:spPr>
      </p:sp>
      <p:sp>
        <p:nvSpPr>
          <p:cNvPr id="27" name="Text 25"/>
          <p:cNvSpPr/>
          <p:nvPr/>
        </p:nvSpPr>
        <p:spPr>
          <a:xfrm>
            <a:off x="1481328" y="3675888"/>
            <a:ext cx="2194560" cy="146304"/>
          </a:xfrm>
          <a:prstGeom prst="rect">
            <a:avLst/>
          </a:prstGeom>
          <a:noFill/>
          <a:ln/>
        </p:spPr>
        <p:txBody>
          <a:bodyPr wrap="square" lIns="0" tIns="0" rIns="0" bIns="0" rtlCol="0" anchor="ctr"/>
          <a:lstStyle/>
          <a:p>
            <a:pPr indent="0" marL="0">
              <a:buNone/>
            </a:pPr>
            <a:r>
              <a:rPr lang="en-US" sz="1080" b="1" dirty="0">
                <a:solidFill>
                  <a:srgbClr val="F7FAFC"/>
                </a:solidFill>
              </a:rPr>
              <a:t>Requests + Middleware</a:t>
            </a:r>
            <a:endParaRPr lang="en-US" sz="1080" dirty="0"/>
          </a:p>
        </p:txBody>
      </p:sp>
      <p:sp>
        <p:nvSpPr>
          <p:cNvPr id="28" name="Text 26"/>
          <p:cNvSpPr/>
          <p:nvPr/>
        </p:nvSpPr>
        <p:spPr>
          <a:xfrm>
            <a:off x="4023360" y="3675888"/>
            <a:ext cx="3749040" cy="146304"/>
          </a:xfrm>
          <a:prstGeom prst="rect">
            <a:avLst/>
          </a:prstGeom>
          <a:noFill/>
          <a:ln/>
        </p:spPr>
        <p:txBody>
          <a:bodyPr wrap="square" lIns="0" tIns="0" rIns="0" bIns="0" rtlCol="0" anchor="ctr"/>
          <a:lstStyle/>
          <a:p>
            <a:pPr indent="0" marL="0">
              <a:buNone/>
            </a:pPr>
            <a:r>
              <a:rPr lang="en-US" sz="920" dirty="0">
                <a:solidFill>
                  <a:srgbClr val="AAB7CC"/>
                </a:solidFill>
              </a:rPr>
              <a:t>validation + access control</a:t>
            </a:r>
            <a:endParaRPr lang="en-US" sz="920" dirty="0"/>
          </a:p>
        </p:txBody>
      </p:sp>
      <p:sp>
        <p:nvSpPr>
          <p:cNvPr id="29" name="Shape 27"/>
          <p:cNvSpPr/>
          <p:nvPr/>
        </p:nvSpPr>
        <p:spPr>
          <a:xfrm>
            <a:off x="6080760" y="4005072"/>
            <a:ext cx="0" cy="201168"/>
          </a:xfrm>
          <a:prstGeom prst="line">
            <a:avLst/>
          </a:prstGeom>
          <a:noFill/>
          <a:ln w="13970">
            <a:solidFill>
              <a:srgbClr val="233148"/>
            </a:solidFill>
            <a:prstDash val="solid"/>
            <a:headEnd type="none"/>
            <a:tailEnd type="triangle"/>
          </a:ln>
        </p:spPr>
      </p:sp>
      <p:sp>
        <p:nvSpPr>
          <p:cNvPr id="30" name="Shape 28"/>
          <p:cNvSpPr/>
          <p:nvPr/>
        </p:nvSpPr>
        <p:spPr>
          <a:xfrm>
            <a:off x="1234440" y="4206240"/>
            <a:ext cx="9784080" cy="457200"/>
          </a:xfrm>
          <a:prstGeom prst="roundRect">
            <a:avLst>
              <a:gd name="adj" fmla="val 26000"/>
            </a:avLst>
          </a:prstGeom>
          <a:solidFill>
            <a:srgbClr val="101827"/>
          </a:solidFill>
          <a:ln w="12700">
            <a:solidFill>
              <a:srgbClr val="25344C"/>
            </a:solidFill>
            <a:prstDash val="solid"/>
          </a:ln>
        </p:spPr>
      </p:sp>
      <p:sp>
        <p:nvSpPr>
          <p:cNvPr id="31" name="Shape 29"/>
          <p:cNvSpPr/>
          <p:nvPr/>
        </p:nvSpPr>
        <p:spPr>
          <a:xfrm>
            <a:off x="1234440" y="4206240"/>
            <a:ext cx="73152" cy="457200"/>
          </a:xfrm>
          <a:prstGeom prst="rect">
            <a:avLst/>
          </a:prstGeom>
          <a:solidFill>
            <a:srgbClr val="A78BFA"/>
          </a:solidFill>
          <a:ln w="6350">
            <a:solidFill>
              <a:srgbClr val="A78BFA">
                <a:alpha val="0"/>
              </a:srgbClr>
            </a:solidFill>
            <a:prstDash val="solid"/>
          </a:ln>
        </p:spPr>
      </p:sp>
      <p:sp>
        <p:nvSpPr>
          <p:cNvPr id="32" name="Text 30"/>
          <p:cNvSpPr/>
          <p:nvPr/>
        </p:nvSpPr>
        <p:spPr>
          <a:xfrm>
            <a:off x="1481328" y="4334256"/>
            <a:ext cx="2194560" cy="146304"/>
          </a:xfrm>
          <a:prstGeom prst="rect">
            <a:avLst/>
          </a:prstGeom>
          <a:noFill/>
          <a:ln/>
        </p:spPr>
        <p:txBody>
          <a:bodyPr wrap="square" lIns="0" tIns="0" rIns="0" bIns="0" rtlCol="0" anchor="ctr"/>
          <a:lstStyle/>
          <a:p>
            <a:pPr indent="0" marL="0">
              <a:buNone/>
            </a:pPr>
            <a:r>
              <a:rPr lang="en-US" sz="1080" b="1" dirty="0">
                <a:solidFill>
                  <a:srgbClr val="F7FAFC"/>
                </a:solidFill>
              </a:rPr>
              <a:t>Models + Eloquent</a:t>
            </a:r>
            <a:endParaRPr lang="en-US" sz="1080" dirty="0"/>
          </a:p>
        </p:txBody>
      </p:sp>
      <p:sp>
        <p:nvSpPr>
          <p:cNvPr id="33" name="Text 31"/>
          <p:cNvSpPr/>
          <p:nvPr/>
        </p:nvSpPr>
        <p:spPr>
          <a:xfrm>
            <a:off x="4023360" y="4334256"/>
            <a:ext cx="3749040" cy="146304"/>
          </a:xfrm>
          <a:prstGeom prst="rect">
            <a:avLst/>
          </a:prstGeom>
          <a:noFill/>
          <a:ln/>
        </p:spPr>
        <p:txBody>
          <a:bodyPr wrap="square" lIns="0" tIns="0" rIns="0" bIns="0" rtlCol="0" anchor="ctr"/>
          <a:lstStyle/>
          <a:p>
            <a:pPr indent="0" marL="0">
              <a:buNone/>
            </a:pPr>
            <a:r>
              <a:rPr lang="en-US" sz="920" dirty="0">
                <a:solidFill>
                  <a:srgbClr val="AAB7CC"/>
                </a:solidFill>
              </a:rPr>
              <a:t>app/Models</a:t>
            </a:r>
            <a:endParaRPr lang="en-US" sz="920" dirty="0"/>
          </a:p>
        </p:txBody>
      </p:sp>
      <p:sp>
        <p:nvSpPr>
          <p:cNvPr id="34" name="Shape 32"/>
          <p:cNvSpPr/>
          <p:nvPr/>
        </p:nvSpPr>
        <p:spPr>
          <a:xfrm>
            <a:off x="6080760" y="4663440"/>
            <a:ext cx="0" cy="201168"/>
          </a:xfrm>
          <a:prstGeom prst="line">
            <a:avLst/>
          </a:prstGeom>
          <a:noFill/>
          <a:ln w="13970">
            <a:solidFill>
              <a:srgbClr val="233148"/>
            </a:solidFill>
            <a:prstDash val="solid"/>
            <a:headEnd type="none"/>
            <a:tailEnd type="triangle"/>
          </a:ln>
        </p:spPr>
      </p:sp>
      <p:sp>
        <p:nvSpPr>
          <p:cNvPr id="35" name="Shape 33"/>
          <p:cNvSpPr/>
          <p:nvPr/>
        </p:nvSpPr>
        <p:spPr>
          <a:xfrm>
            <a:off x="1234440" y="4864608"/>
            <a:ext cx="9784080" cy="457200"/>
          </a:xfrm>
          <a:prstGeom prst="roundRect">
            <a:avLst>
              <a:gd name="adj" fmla="val 26000"/>
            </a:avLst>
          </a:prstGeom>
          <a:solidFill>
            <a:srgbClr val="101827"/>
          </a:solidFill>
          <a:ln w="12700">
            <a:solidFill>
              <a:srgbClr val="25344C"/>
            </a:solidFill>
            <a:prstDash val="solid"/>
          </a:ln>
        </p:spPr>
      </p:sp>
      <p:sp>
        <p:nvSpPr>
          <p:cNvPr id="36" name="Shape 34"/>
          <p:cNvSpPr/>
          <p:nvPr/>
        </p:nvSpPr>
        <p:spPr>
          <a:xfrm>
            <a:off x="1234440" y="4864608"/>
            <a:ext cx="73152" cy="457200"/>
          </a:xfrm>
          <a:prstGeom prst="rect">
            <a:avLst/>
          </a:prstGeom>
          <a:solidFill>
            <a:srgbClr val="00B7FF"/>
          </a:solidFill>
          <a:ln w="6350">
            <a:solidFill>
              <a:srgbClr val="00B7FF">
                <a:alpha val="0"/>
              </a:srgbClr>
            </a:solidFill>
            <a:prstDash val="solid"/>
          </a:ln>
        </p:spPr>
      </p:sp>
      <p:sp>
        <p:nvSpPr>
          <p:cNvPr id="37" name="Text 35"/>
          <p:cNvSpPr/>
          <p:nvPr/>
        </p:nvSpPr>
        <p:spPr>
          <a:xfrm>
            <a:off x="1481328" y="4992624"/>
            <a:ext cx="2194560" cy="146304"/>
          </a:xfrm>
          <a:prstGeom prst="rect">
            <a:avLst/>
          </a:prstGeom>
          <a:noFill/>
          <a:ln/>
        </p:spPr>
        <p:txBody>
          <a:bodyPr wrap="square" lIns="0" tIns="0" rIns="0" bIns="0" rtlCol="0" anchor="ctr"/>
          <a:lstStyle/>
          <a:p>
            <a:pPr indent="0" marL="0">
              <a:buNone/>
            </a:pPr>
            <a:r>
              <a:rPr lang="en-US" sz="1080" b="1" dirty="0">
                <a:solidFill>
                  <a:srgbClr val="F7FAFC"/>
                </a:solidFill>
              </a:rPr>
              <a:t>Database + Storage</a:t>
            </a:r>
            <a:endParaRPr lang="en-US" sz="1080" dirty="0"/>
          </a:p>
        </p:txBody>
      </p:sp>
      <p:sp>
        <p:nvSpPr>
          <p:cNvPr id="38" name="Text 36"/>
          <p:cNvSpPr/>
          <p:nvPr/>
        </p:nvSpPr>
        <p:spPr>
          <a:xfrm>
            <a:off x="4023360" y="4992624"/>
            <a:ext cx="3749040" cy="146304"/>
          </a:xfrm>
          <a:prstGeom prst="rect">
            <a:avLst/>
          </a:prstGeom>
          <a:noFill/>
          <a:ln/>
        </p:spPr>
        <p:txBody>
          <a:bodyPr wrap="square" lIns="0" tIns="0" rIns="0" bIns="0" rtlCol="0" anchor="ctr"/>
          <a:lstStyle/>
          <a:p>
            <a:pPr indent="0" marL="0">
              <a:buNone/>
            </a:pPr>
            <a:r>
              <a:rPr lang="en-US" sz="920" dirty="0">
                <a:solidFill>
                  <a:srgbClr val="AAB7CC"/>
                </a:solidFill>
              </a:rPr>
              <a:t>migrations, seeders, public disk</a:t>
            </a:r>
            <a:endParaRPr lang="en-US" sz="920" dirty="0"/>
          </a:p>
        </p:txBody>
      </p:sp>
      <p:sp>
        <p:nvSpPr>
          <p:cNvPr id="39" name="Shape 37"/>
          <p:cNvSpPr/>
          <p:nvPr/>
        </p:nvSpPr>
        <p:spPr>
          <a:xfrm>
            <a:off x="2057400" y="5907024"/>
            <a:ext cx="8138160" cy="438912"/>
          </a:xfrm>
          <a:prstGeom prst="roundRect">
            <a:avLst>
              <a:gd name="adj" fmla="val 25000"/>
            </a:avLst>
          </a:prstGeom>
          <a:solidFill>
            <a:srgbClr val="0D1524"/>
          </a:solidFill>
          <a:ln w="12700">
            <a:solidFill>
              <a:srgbClr val="1F2A44"/>
            </a:solidFill>
            <a:prstDash val="solid"/>
          </a:ln>
        </p:spPr>
      </p:sp>
      <p:sp>
        <p:nvSpPr>
          <p:cNvPr id="40" name="Text 38"/>
          <p:cNvSpPr/>
          <p:nvPr/>
        </p:nvSpPr>
        <p:spPr>
          <a:xfrm>
            <a:off x="2395728" y="6044184"/>
            <a:ext cx="7498080" cy="118872"/>
          </a:xfrm>
          <a:prstGeom prst="rect">
            <a:avLst/>
          </a:prstGeom>
          <a:noFill/>
          <a:ln/>
        </p:spPr>
        <p:txBody>
          <a:bodyPr wrap="square" lIns="0" tIns="0" rIns="0" bIns="0" rtlCol="0" anchor="t">
            <a:normAutofit/>
          </a:bodyPr>
          <a:lstStyle/>
          <a:p>
            <a:pPr indent="0" marL="0">
              <a:buNone/>
            </a:pPr>
            <a:r>
              <a:rPr lang="en-US" sz="940" b="1" dirty="0">
                <a:solidFill>
                  <a:srgbClr val="F7FAFC"/>
                </a:solidFill>
              </a:rPr>
              <a:t>This separation keeps page design, request logic, validation, data models, and storage responsibilities clean.</a:t>
            </a:r>
            <a:endParaRPr lang="en-US" sz="9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07</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MVC request lifecycle: create vacancy example</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A single form submission shows how Laravel pieces work together.</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1837944" y="3044952"/>
            <a:ext cx="429768" cy="0"/>
          </a:xfrm>
          <a:prstGeom prst="line">
            <a:avLst/>
          </a:prstGeom>
          <a:noFill/>
          <a:ln w="17780">
            <a:solidFill>
              <a:srgbClr val="233148"/>
            </a:solidFill>
            <a:prstDash val="solid"/>
            <a:headEnd type="none"/>
            <a:tailEnd type="triangle"/>
          </a:ln>
        </p:spPr>
      </p:sp>
      <p:sp>
        <p:nvSpPr>
          <p:cNvPr id="11" name="Shape 9"/>
          <p:cNvSpPr/>
          <p:nvPr/>
        </p:nvSpPr>
        <p:spPr>
          <a:xfrm>
            <a:off x="3621024" y="3044952"/>
            <a:ext cx="429768" cy="0"/>
          </a:xfrm>
          <a:prstGeom prst="line">
            <a:avLst/>
          </a:prstGeom>
          <a:noFill/>
          <a:ln w="17780">
            <a:solidFill>
              <a:srgbClr val="233148"/>
            </a:solidFill>
            <a:prstDash val="solid"/>
            <a:headEnd type="none"/>
            <a:tailEnd type="triangle"/>
          </a:ln>
        </p:spPr>
      </p:sp>
      <p:sp>
        <p:nvSpPr>
          <p:cNvPr id="12" name="Shape 10"/>
          <p:cNvSpPr/>
          <p:nvPr/>
        </p:nvSpPr>
        <p:spPr>
          <a:xfrm>
            <a:off x="5404104" y="3044952"/>
            <a:ext cx="429768" cy="0"/>
          </a:xfrm>
          <a:prstGeom prst="line">
            <a:avLst/>
          </a:prstGeom>
          <a:noFill/>
          <a:ln w="17780">
            <a:solidFill>
              <a:srgbClr val="233148"/>
            </a:solidFill>
            <a:prstDash val="solid"/>
            <a:headEnd type="none"/>
            <a:tailEnd type="triangle"/>
          </a:ln>
        </p:spPr>
      </p:sp>
      <p:sp>
        <p:nvSpPr>
          <p:cNvPr id="13" name="Shape 11"/>
          <p:cNvSpPr/>
          <p:nvPr/>
        </p:nvSpPr>
        <p:spPr>
          <a:xfrm>
            <a:off x="7187184" y="3044952"/>
            <a:ext cx="429768" cy="0"/>
          </a:xfrm>
          <a:prstGeom prst="line">
            <a:avLst/>
          </a:prstGeom>
          <a:noFill/>
          <a:ln w="17780">
            <a:solidFill>
              <a:srgbClr val="233148"/>
            </a:solidFill>
            <a:prstDash val="solid"/>
            <a:headEnd type="none"/>
            <a:tailEnd type="triangle"/>
          </a:ln>
        </p:spPr>
      </p:sp>
      <p:sp>
        <p:nvSpPr>
          <p:cNvPr id="14" name="Shape 12"/>
          <p:cNvSpPr/>
          <p:nvPr/>
        </p:nvSpPr>
        <p:spPr>
          <a:xfrm>
            <a:off x="8970264" y="3044952"/>
            <a:ext cx="429768" cy="0"/>
          </a:xfrm>
          <a:prstGeom prst="line">
            <a:avLst/>
          </a:prstGeom>
          <a:noFill/>
          <a:ln w="17780">
            <a:solidFill>
              <a:srgbClr val="233148"/>
            </a:solidFill>
            <a:prstDash val="solid"/>
            <a:headEnd type="none"/>
            <a:tailEnd type="triangle"/>
          </a:ln>
        </p:spPr>
      </p:sp>
      <p:sp>
        <p:nvSpPr>
          <p:cNvPr id="15" name="Shape 13"/>
          <p:cNvSpPr/>
          <p:nvPr/>
        </p:nvSpPr>
        <p:spPr>
          <a:xfrm>
            <a:off x="594360" y="2286000"/>
            <a:ext cx="1325880" cy="1417320"/>
          </a:xfrm>
          <a:prstGeom prst="roundRect">
            <a:avLst>
              <a:gd name="adj" fmla="val 8276"/>
            </a:avLst>
          </a:prstGeom>
          <a:solidFill>
            <a:srgbClr val="101827"/>
          </a:solidFill>
          <a:ln w="12700">
            <a:solidFill>
              <a:srgbClr val="25344C"/>
            </a:solidFill>
            <a:prstDash val="solid"/>
          </a:ln>
        </p:spPr>
      </p:sp>
      <p:sp>
        <p:nvSpPr>
          <p:cNvPr id="16" name="Shape 14"/>
          <p:cNvSpPr/>
          <p:nvPr/>
        </p:nvSpPr>
        <p:spPr>
          <a:xfrm>
            <a:off x="594360" y="2286000"/>
            <a:ext cx="73152" cy="1417320"/>
          </a:xfrm>
          <a:prstGeom prst="rect">
            <a:avLst/>
          </a:prstGeom>
          <a:solidFill>
            <a:srgbClr val="00B7FF"/>
          </a:solidFill>
          <a:ln w="6350">
            <a:solidFill>
              <a:srgbClr val="00B7FF">
                <a:alpha val="0"/>
              </a:srgbClr>
            </a:solidFill>
            <a:prstDash val="solid"/>
          </a:ln>
        </p:spPr>
      </p:sp>
      <p:sp>
        <p:nvSpPr>
          <p:cNvPr id="17" name="Text 15"/>
          <p:cNvSpPr/>
          <p:nvPr/>
        </p:nvSpPr>
        <p:spPr>
          <a:xfrm>
            <a:off x="795528" y="2450592"/>
            <a:ext cx="101498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Blade form</a:t>
            </a:r>
            <a:endParaRPr lang="en-US" sz="1220" dirty="0"/>
          </a:p>
        </p:txBody>
      </p:sp>
      <p:sp>
        <p:nvSpPr>
          <p:cNvPr id="18" name="Text 16"/>
          <p:cNvSpPr/>
          <p:nvPr/>
        </p:nvSpPr>
        <p:spPr>
          <a:xfrm>
            <a:off x="795528" y="2816352"/>
            <a:ext cx="996696"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create.blade.php</a:t>
            </a:r>
            <a:endParaRPr lang="en-US" sz="930" dirty="0"/>
          </a:p>
        </p:txBody>
      </p:sp>
      <p:sp>
        <p:nvSpPr>
          <p:cNvPr id="19" name="Shape 17"/>
          <p:cNvSpPr/>
          <p:nvPr/>
        </p:nvSpPr>
        <p:spPr>
          <a:xfrm>
            <a:off x="2377440" y="2286000"/>
            <a:ext cx="1325880" cy="1417320"/>
          </a:xfrm>
          <a:prstGeom prst="roundRect">
            <a:avLst>
              <a:gd name="adj" fmla="val 8276"/>
            </a:avLst>
          </a:prstGeom>
          <a:solidFill>
            <a:srgbClr val="101827"/>
          </a:solidFill>
          <a:ln w="12700">
            <a:solidFill>
              <a:srgbClr val="25344C"/>
            </a:solidFill>
            <a:prstDash val="solid"/>
          </a:ln>
        </p:spPr>
      </p:sp>
      <p:sp>
        <p:nvSpPr>
          <p:cNvPr id="20" name="Shape 18"/>
          <p:cNvSpPr/>
          <p:nvPr/>
        </p:nvSpPr>
        <p:spPr>
          <a:xfrm>
            <a:off x="2377440" y="2286000"/>
            <a:ext cx="73152" cy="1417320"/>
          </a:xfrm>
          <a:prstGeom prst="rect">
            <a:avLst/>
          </a:prstGeom>
          <a:solidFill>
            <a:srgbClr val="34E6C2"/>
          </a:solidFill>
          <a:ln w="6350">
            <a:solidFill>
              <a:srgbClr val="34E6C2">
                <a:alpha val="0"/>
              </a:srgbClr>
            </a:solidFill>
            <a:prstDash val="solid"/>
          </a:ln>
        </p:spPr>
      </p:sp>
      <p:sp>
        <p:nvSpPr>
          <p:cNvPr id="21" name="Text 19"/>
          <p:cNvSpPr/>
          <p:nvPr/>
        </p:nvSpPr>
        <p:spPr>
          <a:xfrm>
            <a:off x="2578608" y="2450592"/>
            <a:ext cx="101498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Route</a:t>
            </a:r>
            <a:endParaRPr lang="en-US" sz="1220" dirty="0"/>
          </a:p>
        </p:txBody>
      </p:sp>
      <p:sp>
        <p:nvSpPr>
          <p:cNvPr id="22" name="Text 20"/>
          <p:cNvSpPr/>
          <p:nvPr/>
        </p:nvSpPr>
        <p:spPr>
          <a:xfrm>
            <a:off x="2578608" y="2816352"/>
            <a:ext cx="996696"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POST /vacancies</a:t>
            </a:r>
            <a:endParaRPr lang="en-US" sz="930" dirty="0"/>
          </a:p>
        </p:txBody>
      </p:sp>
      <p:sp>
        <p:nvSpPr>
          <p:cNvPr id="23" name="Shape 21"/>
          <p:cNvSpPr/>
          <p:nvPr/>
        </p:nvSpPr>
        <p:spPr>
          <a:xfrm>
            <a:off x="4160520" y="2286000"/>
            <a:ext cx="1325880" cy="1417320"/>
          </a:xfrm>
          <a:prstGeom prst="roundRect">
            <a:avLst>
              <a:gd name="adj" fmla="val 8276"/>
            </a:avLst>
          </a:prstGeom>
          <a:solidFill>
            <a:srgbClr val="101827"/>
          </a:solidFill>
          <a:ln w="12700">
            <a:solidFill>
              <a:srgbClr val="25344C"/>
            </a:solidFill>
            <a:prstDash val="solid"/>
          </a:ln>
        </p:spPr>
      </p:sp>
      <p:sp>
        <p:nvSpPr>
          <p:cNvPr id="24" name="Shape 22"/>
          <p:cNvSpPr/>
          <p:nvPr/>
        </p:nvSpPr>
        <p:spPr>
          <a:xfrm>
            <a:off x="4160520" y="2286000"/>
            <a:ext cx="73152" cy="1417320"/>
          </a:xfrm>
          <a:prstGeom prst="rect">
            <a:avLst/>
          </a:prstGeom>
          <a:solidFill>
            <a:srgbClr val="00B7FF"/>
          </a:solidFill>
          <a:ln w="6350">
            <a:solidFill>
              <a:srgbClr val="00B7FF">
                <a:alpha val="0"/>
              </a:srgbClr>
            </a:solidFill>
            <a:prstDash val="solid"/>
          </a:ln>
        </p:spPr>
      </p:sp>
      <p:sp>
        <p:nvSpPr>
          <p:cNvPr id="25" name="Text 23"/>
          <p:cNvSpPr/>
          <p:nvPr/>
        </p:nvSpPr>
        <p:spPr>
          <a:xfrm>
            <a:off x="4361688" y="2450592"/>
            <a:ext cx="101498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Middleware</a:t>
            </a:r>
            <a:endParaRPr lang="en-US" sz="1220" dirty="0"/>
          </a:p>
        </p:txBody>
      </p:sp>
      <p:sp>
        <p:nvSpPr>
          <p:cNvPr id="26" name="Text 24"/>
          <p:cNvSpPr/>
          <p:nvPr/>
        </p:nvSpPr>
        <p:spPr>
          <a:xfrm>
            <a:off x="4361688" y="2816352"/>
            <a:ext cx="996696"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auth + admin</a:t>
            </a:r>
            <a:endParaRPr lang="en-US" sz="930" dirty="0"/>
          </a:p>
        </p:txBody>
      </p:sp>
      <p:sp>
        <p:nvSpPr>
          <p:cNvPr id="27" name="Shape 25"/>
          <p:cNvSpPr/>
          <p:nvPr/>
        </p:nvSpPr>
        <p:spPr>
          <a:xfrm>
            <a:off x="5943600" y="2286000"/>
            <a:ext cx="1325880" cy="1417320"/>
          </a:xfrm>
          <a:prstGeom prst="roundRect">
            <a:avLst>
              <a:gd name="adj" fmla="val 8276"/>
            </a:avLst>
          </a:prstGeom>
          <a:solidFill>
            <a:srgbClr val="101827"/>
          </a:solidFill>
          <a:ln w="12700">
            <a:solidFill>
              <a:srgbClr val="25344C"/>
            </a:solidFill>
            <a:prstDash val="solid"/>
          </a:ln>
        </p:spPr>
      </p:sp>
      <p:sp>
        <p:nvSpPr>
          <p:cNvPr id="28" name="Shape 26"/>
          <p:cNvSpPr/>
          <p:nvPr/>
        </p:nvSpPr>
        <p:spPr>
          <a:xfrm>
            <a:off x="5943600" y="2286000"/>
            <a:ext cx="73152" cy="1417320"/>
          </a:xfrm>
          <a:prstGeom prst="rect">
            <a:avLst/>
          </a:prstGeom>
          <a:solidFill>
            <a:srgbClr val="34E6C2"/>
          </a:solidFill>
          <a:ln w="6350">
            <a:solidFill>
              <a:srgbClr val="34E6C2">
                <a:alpha val="0"/>
              </a:srgbClr>
            </a:solidFill>
            <a:prstDash val="solid"/>
          </a:ln>
        </p:spPr>
      </p:sp>
      <p:sp>
        <p:nvSpPr>
          <p:cNvPr id="29" name="Text 27"/>
          <p:cNvSpPr/>
          <p:nvPr/>
        </p:nvSpPr>
        <p:spPr>
          <a:xfrm>
            <a:off x="6144768" y="2450592"/>
            <a:ext cx="101498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Controller</a:t>
            </a:r>
            <a:endParaRPr lang="en-US" sz="1220" dirty="0"/>
          </a:p>
        </p:txBody>
      </p:sp>
      <p:sp>
        <p:nvSpPr>
          <p:cNvPr id="30" name="Text 28"/>
          <p:cNvSpPr/>
          <p:nvPr/>
        </p:nvSpPr>
        <p:spPr>
          <a:xfrm>
            <a:off x="6144768" y="2816352"/>
            <a:ext cx="996696"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VacancyController@store</a:t>
            </a:r>
            <a:endParaRPr lang="en-US" sz="930" dirty="0"/>
          </a:p>
        </p:txBody>
      </p:sp>
      <p:sp>
        <p:nvSpPr>
          <p:cNvPr id="31" name="Shape 29"/>
          <p:cNvSpPr/>
          <p:nvPr/>
        </p:nvSpPr>
        <p:spPr>
          <a:xfrm>
            <a:off x="7726680" y="2286000"/>
            <a:ext cx="1325880" cy="1417320"/>
          </a:xfrm>
          <a:prstGeom prst="roundRect">
            <a:avLst>
              <a:gd name="adj" fmla="val 8276"/>
            </a:avLst>
          </a:prstGeom>
          <a:solidFill>
            <a:srgbClr val="101827"/>
          </a:solidFill>
          <a:ln w="12700">
            <a:solidFill>
              <a:srgbClr val="25344C"/>
            </a:solidFill>
            <a:prstDash val="solid"/>
          </a:ln>
        </p:spPr>
      </p:sp>
      <p:sp>
        <p:nvSpPr>
          <p:cNvPr id="32" name="Shape 30"/>
          <p:cNvSpPr/>
          <p:nvPr/>
        </p:nvSpPr>
        <p:spPr>
          <a:xfrm>
            <a:off x="7726680" y="2286000"/>
            <a:ext cx="73152" cy="1417320"/>
          </a:xfrm>
          <a:prstGeom prst="rect">
            <a:avLst/>
          </a:prstGeom>
          <a:solidFill>
            <a:srgbClr val="00B7FF"/>
          </a:solidFill>
          <a:ln w="6350">
            <a:solidFill>
              <a:srgbClr val="00B7FF">
                <a:alpha val="0"/>
              </a:srgbClr>
            </a:solidFill>
            <a:prstDash val="solid"/>
          </a:ln>
        </p:spPr>
      </p:sp>
      <p:sp>
        <p:nvSpPr>
          <p:cNvPr id="33" name="Text 31"/>
          <p:cNvSpPr/>
          <p:nvPr/>
        </p:nvSpPr>
        <p:spPr>
          <a:xfrm>
            <a:off x="7927848" y="2450592"/>
            <a:ext cx="101498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FormRequest</a:t>
            </a:r>
            <a:endParaRPr lang="en-US" sz="1220" dirty="0"/>
          </a:p>
        </p:txBody>
      </p:sp>
      <p:sp>
        <p:nvSpPr>
          <p:cNvPr id="34" name="Text 32"/>
          <p:cNvSpPr/>
          <p:nvPr/>
        </p:nvSpPr>
        <p:spPr>
          <a:xfrm>
            <a:off x="7927848" y="2816352"/>
            <a:ext cx="996696"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VacancyRequest</a:t>
            </a:r>
            <a:endParaRPr lang="en-US" sz="930" dirty="0"/>
          </a:p>
        </p:txBody>
      </p:sp>
      <p:sp>
        <p:nvSpPr>
          <p:cNvPr id="35" name="Shape 33"/>
          <p:cNvSpPr/>
          <p:nvPr/>
        </p:nvSpPr>
        <p:spPr>
          <a:xfrm>
            <a:off x="9509760" y="2286000"/>
            <a:ext cx="1325880" cy="1417320"/>
          </a:xfrm>
          <a:prstGeom prst="roundRect">
            <a:avLst>
              <a:gd name="adj" fmla="val 8276"/>
            </a:avLst>
          </a:prstGeom>
          <a:solidFill>
            <a:srgbClr val="101827"/>
          </a:solidFill>
          <a:ln w="12700">
            <a:solidFill>
              <a:srgbClr val="25344C"/>
            </a:solidFill>
            <a:prstDash val="solid"/>
          </a:ln>
        </p:spPr>
      </p:sp>
      <p:sp>
        <p:nvSpPr>
          <p:cNvPr id="36" name="Shape 34"/>
          <p:cNvSpPr/>
          <p:nvPr/>
        </p:nvSpPr>
        <p:spPr>
          <a:xfrm>
            <a:off x="9509760" y="2286000"/>
            <a:ext cx="73152" cy="1417320"/>
          </a:xfrm>
          <a:prstGeom prst="rect">
            <a:avLst/>
          </a:prstGeom>
          <a:solidFill>
            <a:srgbClr val="34E6C2"/>
          </a:solidFill>
          <a:ln w="6350">
            <a:solidFill>
              <a:srgbClr val="34E6C2">
                <a:alpha val="0"/>
              </a:srgbClr>
            </a:solidFill>
            <a:prstDash val="solid"/>
          </a:ln>
        </p:spPr>
      </p:sp>
      <p:sp>
        <p:nvSpPr>
          <p:cNvPr id="37" name="Text 35"/>
          <p:cNvSpPr/>
          <p:nvPr/>
        </p:nvSpPr>
        <p:spPr>
          <a:xfrm>
            <a:off x="9710928" y="2450592"/>
            <a:ext cx="101498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Model</a:t>
            </a:r>
            <a:endParaRPr lang="en-US" sz="1220" dirty="0"/>
          </a:p>
        </p:txBody>
      </p:sp>
      <p:sp>
        <p:nvSpPr>
          <p:cNvPr id="38" name="Text 36"/>
          <p:cNvSpPr/>
          <p:nvPr/>
        </p:nvSpPr>
        <p:spPr>
          <a:xfrm>
            <a:off x="9710928" y="2816352"/>
            <a:ext cx="996696"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Vacancy::create</a:t>
            </a:r>
            <a:endParaRPr lang="en-US" sz="930" dirty="0"/>
          </a:p>
        </p:txBody>
      </p:sp>
      <p:sp>
        <p:nvSpPr>
          <p:cNvPr id="39" name="Shape 37"/>
          <p:cNvSpPr/>
          <p:nvPr/>
        </p:nvSpPr>
        <p:spPr>
          <a:xfrm>
            <a:off x="1143000" y="4617720"/>
            <a:ext cx="9875520" cy="987552"/>
          </a:xfrm>
          <a:prstGeom prst="roundRect">
            <a:avLst>
              <a:gd name="adj" fmla="val 7407"/>
            </a:avLst>
          </a:prstGeom>
          <a:solidFill>
            <a:srgbClr val="080E1C"/>
          </a:solidFill>
          <a:ln w="12700">
            <a:solidFill>
              <a:srgbClr val="1F2A44"/>
            </a:solidFill>
            <a:prstDash val="solid"/>
          </a:ln>
        </p:spPr>
      </p:sp>
      <p:sp>
        <p:nvSpPr>
          <p:cNvPr id="40" name="Text 38"/>
          <p:cNvSpPr/>
          <p:nvPr/>
        </p:nvSpPr>
        <p:spPr>
          <a:xfrm>
            <a:off x="1289304" y="4736592"/>
            <a:ext cx="9582912" cy="146304"/>
          </a:xfrm>
          <a:prstGeom prst="rect">
            <a:avLst/>
          </a:prstGeom>
          <a:noFill/>
          <a:ln/>
        </p:spPr>
        <p:txBody>
          <a:bodyPr wrap="square" lIns="0" tIns="0" rIns="0" bIns="0" rtlCol="0" anchor="ctr"/>
          <a:lstStyle/>
          <a:p>
            <a:pPr indent="0" marL="0">
              <a:buNone/>
            </a:pPr>
            <a:r>
              <a:rPr lang="en-US" sz="760" b="1" dirty="0">
                <a:solidFill>
                  <a:srgbClr val="34E6C2"/>
                </a:solidFill>
              </a:rPr>
              <a:t>The code path in simple form</a:t>
            </a:r>
            <a:endParaRPr lang="en-US" sz="760" dirty="0"/>
          </a:p>
        </p:txBody>
      </p:sp>
      <p:sp>
        <p:nvSpPr>
          <p:cNvPr id="41" name="Text 39"/>
          <p:cNvSpPr/>
          <p:nvPr/>
        </p:nvSpPr>
        <p:spPr>
          <a:xfrm>
            <a:off x="1289304" y="4965192"/>
            <a:ext cx="9582912" cy="530352"/>
          </a:xfrm>
          <a:prstGeom prst="rect">
            <a:avLst/>
          </a:prstGeom>
          <a:noFill/>
          <a:ln/>
        </p:spPr>
        <p:txBody>
          <a:bodyPr wrap="square" lIns="254" tIns="254" rIns="254" bIns="254" rtlCol="0" anchor="t">
            <a:normAutofit/>
          </a:bodyPr>
          <a:lstStyle/>
          <a:p>
            <a:pPr indent="0" marL="0">
              <a:buNone/>
            </a:pPr>
            <a:r>
              <a:rPr lang="en-US" sz="750" dirty="0">
                <a:solidFill>
                  <a:srgbClr val="DDE7F5"/>
                </a:solidFill>
                <a:latin typeface="Aptos Mono" pitchFamily="34" charset="0"/>
                <a:ea typeface="Aptos Mono" pitchFamily="34" charset="-122"/>
                <a:cs typeface="Aptos Mono" pitchFamily="34" charset="-120"/>
              </a:rPr>
              <a:t>Route::post('/vacancies', [VacancyController::class, 'store'])</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-&gt;name('vacancies.store');</a:t>
            </a:r>
            <a:endParaRPr lang="en-US" sz="750" dirty="0"/>
          </a:p>
          <a:p>
            <a:pPr indent="0" marL="0">
              <a:buNone/>
            </a:pP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public function store(VacancyRequest $request)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Vacancy::create($request-&gt;validated());</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08</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Database model: relationships that drive the app</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data model represents the career-office workflow.</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2788920" y="2788920"/>
            <a:ext cx="2039112" cy="0"/>
          </a:xfrm>
          <a:prstGeom prst="line">
            <a:avLst/>
          </a:prstGeom>
          <a:noFill/>
          <a:ln w="19050">
            <a:solidFill>
              <a:srgbClr val="00B7FF"/>
            </a:solidFill>
            <a:prstDash val="solid"/>
            <a:headEnd type="none"/>
            <a:tailEnd type="triangle"/>
          </a:ln>
        </p:spPr>
      </p:sp>
      <p:sp>
        <p:nvSpPr>
          <p:cNvPr id="11" name="Shape 9"/>
          <p:cNvSpPr/>
          <p:nvPr/>
        </p:nvSpPr>
        <p:spPr>
          <a:xfrm>
            <a:off x="9189720" y="2788920"/>
            <a:ext cx="-2057400" cy="0"/>
          </a:xfrm>
          <a:prstGeom prst="line">
            <a:avLst/>
          </a:prstGeom>
          <a:noFill/>
          <a:ln w="19050">
            <a:solidFill>
              <a:srgbClr val="34E6C2"/>
            </a:solidFill>
            <a:prstDash val="solid"/>
            <a:headEnd type="none"/>
            <a:tailEnd type="triangle"/>
          </a:ln>
        </p:spPr>
      </p:sp>
      <p:sp>
        <p:nvSpPr>
          <p:cNvPr id="12" name="Shape 10"/>
          <p:cNvSpPr/>
          <p:nvPr/>
        </p:nvSpPr>
        <p:spPr>
          <a:xfrm>
            <a:off x="5961888" y="3749040"/>
            <a:ext cx="0" cy="896112"/>
          </a:xfrm>
          <a:prstGeom prst="line">
            <a:avLst/>
          </a:prstGeom>
          <a:noFill/>
          <a:ln w="17780">
            <a:solidFill>
              <a:srgbClr val="FFD166"/>
            </a:solidFill>
            <a:prstDash val="solid"/>
            <a:headEnd type="none"/>
            <a:tailEnd type="triangle"/>
          </a:ln>
        </p:spPr>
      </p:sp>
      <p:sp>
        <p:nvSpPr>
          <p:cNvPr id="13" name="Shape 11"/>
          <p:cNvSpPr/>
          <p:nvPr/>
        </p:nvSpPr>
        <p:spPr>
          <a:xfrm>
            <a:off x="1847088" y="3767328"/>
            <a:ext cx="0" cy="877824"/>
          </a:xfrm>
          <a:prstGeom prst="line">
            <a:avLst/>
          </a:prstGeom>
          <a:noFill/>
          <a:ln w="15240">
            <a:solidFill>
              <a:srgbClr val="A78BFA"/>
            </a:solidFill>
            <a:prstDash val="solid"/>
            <a:headEnd type="none"/>
            <a:tailEnd type="triangle"/>
          </a:ln>
        </p:spPr>
      </p:sp>
      <p:sp>
        <p:nvSpPr>
          <p:cNvPr id="14" name="Shape 12"/>
          <p:cNvSpPr/>
          <p:nvPr/>
        </p:nvSpPr>
        <p:spPr>
          <a:xfrm>
            <a:off x="749808" y="2103120"/>
            <a:ext cx="2176272" cy="1417320"/>
          </a:xfrm>
          <a:prstGeom prst="roundRect">
            <a:avLst>
              <a:gd name="adj" fmla="val 7742"/>
            </a:avLst>
          </a:prstGeom>
          <a:solidFill>
            <a:srgbClr val="101827"/>
          </a:solidFill>
          <a:ln w="12700">
            <a:solidFill>
              <a:srgbClr val="25344C"/>
            </a:solidFill>
            <a:prstDash val="solid"/>
          </a:ln>
        </p:spPr>
      </p:sp>
      <p:sp>
        <p:nvSpPr>
          <p:cNvPr id="15" name="Shape 13"/>
          <p:cNvSpPr/>
          <p:nvPr/>
        </p:nvSpPr>
        <p:spPr>
          <a:xfrm>
            <a:off x="749808" y="2103120"/>
            <a:ext cx="73152" cy="1417320"/>
          </a:xfrm>
          <a:prstGeom prst="rect">
            <a:avLst/>
          </a:prstGeom>
          <a:solidFill>
            <a:srgbClr val="00B7FF"/>
          </a:solidFill>
          <a:ln w="6350">
            <a:solidFill>
              <a:srgbClr val="00B7FF">
                <a:alpha val="0"/>
              </a:srgbClr>
            </a:solidFill>
            <a:prstDash val="solid"/>
          </a:ln>
        </p:spPr>
      </p:sp>
      <p:sp>
        <p:nvSpPr>
          <p:cNvPr id="16" name="Text 14"/>
          <p:cNvSpPr/>
          <p:nvPr/>
        </p:nvSpPr>
        <p:spPr>
          <a:xfrm>
            <a:off x="950976" y="2267712"/>
            <a:ext cx="1865376"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students</a:t>
            </a:r>
            <a:endParaRPr lang="en-US" sz="1220" dirty="0"/>
          </a:p>
        </p:txBody>
      </p:sp>
      <p:sp>
        <p:nvSpPr>
          <p:cNvPr id="17" name="Text 15"/>
          <p:cNvSpPr/>
          <p:nvPr/>
        </p:nvSpPr>
        <p:spPr>
          <a:xfrm>
            <a:off x="950976" y="2633472"/>
            <a:ext cx="1847088"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profile, email, faculty, skills, links, photo_path</a:t>
            </a:r>
            <a:endParaRPr lang="en-US" sz="930" dirty="0"/>
          </a:p>
        </p:txBody>
      </p:sp>
      <p:sp>
        <p:nvSpPr>
          <p:cNvPr id="18" name="Shape 16"/>
          <p:cNvSpPr/>
          <p:nvPr/>
        </p:nvSpPr>
        <p:spPr>
          <a:xfrm>
            <a:off x="4828032" y="1938528"/>
            <a:ext cx="2267712" cy="1755648"/>
          </a:xfrm>
          <a:prstGeom prst="roundRect">
            <a:avLst>
              <a:gd name="adj" fmla="val 6250"/>
            </a:avLst>
          </a:prstGeom>
          <a:solidFill>
            <a:srgbClr val="101827"/>
          </a:solidFill>
          <a:ln w="12700">
            <a:solidFill>
              <a:srgbClr val="25344C"/>
            </a:solidFill>
            <a:prstDash val="solid"/>
          </a:ln>
        </p:spPr>
      </p:sp>
      <p:sp>
        <p:nvSpPr>
          <p:cNvPr id="19" name="Shape 17"/>
          <p:cNvSpPr/>
          <p:nvPr/>
        </p:nvSpPr>
        <p:spPr>
          <a:xfrm>
            <a:off x="4828032" y="1938528"/>
            <a:ext cx="73152" cy="1755648"/>
          </a:xfrm>
          <a:prstGeom prst="rect">
            <a:avLst/>
          </a:prstGeom>
          <a:solidFill>
            <a:srgbClr val="80F2A1"/>
          </a:solidFill>
          <a:ln w="6350">
            <a:solidFill>
              <a:srgbClr val="80F2A1">
                <a:alpha val="0"/>
              </a:srgbClr>
            </a:solidFill>
            <a:prstDash val="solid"/>
          </a:ln>
        </p:spPr>
      </p:sp>
      <p:sp>
        <p:nvSpPr>
          <p:cNvPr id="20" name="Text 18"/>
          <p:cNvSpPr/>
          <p:nvPr/>
        </p:nvSpPr>
        <p:spPr>
          <a:xfrm>
            <a:off x="5029200" y="2103120"/>
            <a:ext cx="1956816"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applications</a:t>
            </a:r>
            <a:endParaRPr lang="en-US" sz="1220" dirty="0"/>
          </a:p>
        </p:txBody>
      </p:sp>
      <p:sp>
        <p:nvSpPr>
          <p:cNvPr id="21" name="Text 19"/>
          <p:cNvSpPr/>
          <p:nvPr/>
        </p:nvSpPr>
        <p:spPr>
          <a:xfrm>
            <a:off x="5029200" y="2468880"/>
            <a:ext cx="1938528" cy="1042416"/>
          </a:xfrm>
          <a:prstGeom prst="rect">
            <a:avLst/>
          </a:prstGeom>
          <a:noFill/>
          <a:ln/>
        </p:spPr>
        <p:txBody>
          <a:bodyPr wrap="square" lIns="0" tIns="0" rIns="0" bIns="0" rtlCol="0" anchor="t">
            <a:normAutofit/>
          </a:bodyPr>
          <a:lstStyle/>
          <a:p>
            <a:pPr indent="0" marL="0">
              <a:buNone/>
            </a:pPr>
            <a:r>
              <a:rPr lang="en-US" sz="930" dirty="0">
                <a:solidFill>
                  <a:srgbClr val="AAB7CC"/>
                </a:solidFill>
              </a:rPr>
              <a:t>student_id, vacancy_id, cover_letter, resume_path, status</a:t>
            </a:r>
            <a:endParaRPr lang="en-US" sz="930" dirty="0"/>
          </a:p>
        </p:txBody>
      </p:sp>
      <p:sp>
        <p:nvSpPr>
          <p:cNvPr id="22" name="Shape 20"/>
          <p:cNvSpPr/>
          <p:nvPr/>
        </p:nvSpPr>
        <p:spPr>
          <a:xfrm>
            <a:off x="9144000" y="2103120"/>
            <a:ext cx="2176272" cy="1417320"/>
          </a:xfrm>
          <a:prstGeom prst="roundRect">
            <a:avLst>
              <a:gd name="adj" fmla="val 7742"/>
            </a:avLst>
          </a:prstGeom>
          <a:solidFill>
            <a:srgbClr val="101827"/>
          </a:solidFill>
          <a:ln w="12700">
            <a:solidFill>
              <a:srgbClr val="25344C"/>
            </a:solidFill>
            <a:prstDash val="solid"/>
          </a:ln>
        </p:spPr>
      </p:sp>
      <p:sp>
        <p:nvSpPr>
          <p:cNvPr id="23" name="Shape 21"/>
          <p:cNvSpPr/>
          <p:nvPr/>
        </p:nvSpPr>
        <p:spPr>
          <a:xfrm>
            <a:off x="9144000" y="2103120"/>
            <a:ext cx="73152" cy="1417320"/>
          </a:xfrm>
          <a:prstGeom prst="rect">
            <a:avLst/>
          </a:prstGeom>
          <a:solidFill>
            <a:srgbClr val="34E6C2"/>
          </a:solidFill>
          <a:ln w="6350">
            <a:solidFill>
              <a:srgbClr val="34E6C2">
                <a:alpha val="0"/>
              </a:srgbClr>
            </a:solidFill>
            <a:prstDash val="solid"/>
          </a:ln>
        </p:spPr>
      </p:sp>
      <p:sp>
        <p:nvSpPr>
          <p:cNvPr id="24" name="Text 22"/>
          <p:cNvSpPr/>
          <p:nvPr/>
        </p:nvSpPr>
        <p:spPr>
          <a:xfrm>
            <a:off x="9345168" y="2267712"/>
            <a:ext cx="1865376"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vacancies</a:t>
            </a:r>
            <a:endParaRPr lang="en-US" sz="1220" dirty="0"/>
          </a:p>
        </p:txBody>
      </p:sp>
      <p:sp>
        <p:nvSpPr>
          <p:cNvPr id="25" name="Text 23"/>
          <p:cNvSpPr/>
          <p:nvPr/>
        </p:nvSpPr>
        <p:spPr>
          <a:xfrm>
            <a:off x="9345168" y="2633472"/>
            <a:ext cx="1847088" cy="704088"/>
          </a:xfrm>
          <a:prstGeom prst="rect">
            <a:avLst/>
          </a:prstGeom>
          <a:noFill/>
          <a:ln/>
        </p:spPr>
        <p:txBody>
          <a:bodyPr wrap="square" lIns="0" tIns="0" rIns="0" bIns="0" rtlCol="0" anchor="t">
            <a:normAutofit/>
          </a:bodyPr>
          <a:lstStyle/>
          <a:p>
            <a:pPr indent="0" marL="0">
              <a:buNone/>
            </a:pPr>
            <a:r>
              <a:rPr lang="en-US" sz="930" dirty="0">
                <a:solidFill>
                  <a:srgbClr val="AAB7CC"/>
                </a:solidFill>
              </a:rPr>
              <a:t>title, company, type, deadline, status</a:t>
            </a:r>
            <a:endParaRPr lang="en-US" sz="930" dirty="0"/>
          </a:p>
        </p:txBody>
      </p:sp>
      <p:sp>
        <p:nvSpPr>
          <p:cNvPr id="26" name="Shape 24"/>
          <p:cNvSpPr/>
          <p:nvPr/>
        </p:nvSpPr>
        <p:spPr>
          <a:xfrm>
            <a:off x="749808" y="4681728"/>
            <a:ext cx="2176272" cy="941832"/>
          </a:xfrm>
          <a:prstGeom prst="roundRect">
            <a:avLst>
              <a:gd name="adj" fmla="val 11650"/>
            </a:avLst>
          </a:prstGeom>
          <a:solidFill>
            <a:srgbClr val="101827"/>
          </a:solidFill>
          <a:ln w="12700">
            <a:solidFill>
              <a:srgbClr val="25344C"/>
            </a:solidFill>
            <a:prstDash val="solid"/>
          </a:ln>
        </p:spPr>
      </p:sp>
      <p:sp>
        <p:nvSpPr>
          <p:cNvPr id="27" name="Shape 25"/>
          <p:cNvSpPr/>
          <p:nvPr/>
        </p:nvSpPr>
        <p:spPr>
          <a:xfrm>
            <a:off x="749808" y="4681728"/>
            <a:ext cx="73152" cy="941832"/>
          </a:xfrm>
          <a:prstGeom prst="rect">
            <a:avLst/>
          </a:prstGeom>
          <a:solidFill>
            <a:srgbClr val="A78BFA"/>
          </a:solidFill>
          <a:ln w="6350">
            <a:solidFill>
              <a:srgbClr val="A78BFA">
                <a:alpha val="0"/>
              </a:srgbClr>
            </a:solidFill>
            <a:prstDash val="solid"/>
          </a:ln>
        </p:spPr>
      </p:sp>
      <p:sp>
        <p:nvSpPr>
          <p:cNvPr id="28" name="Text 26"/>
          <p:cNvSpPr/>
          <p:nvPr/>
        </p:nvSpPr>
        <p:spPr>
          <a:xfrm>
            <a:off x="950976" y="4846320"/>
            <a:ext cx="1865376"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users</a:t>
            </a:r>
            <a:endParaRPr lang="en-US" sz="1220" dirty="0"/>
          </a:p>
        </p:txBody>
      </p:sp>
      <p:sp>
        <p:nvSpPr>
          <p:cNvPr id="29" name="Text 27"/>
          <p:cNvSpPr/>
          <p:nvPr/>
        </p:nvSpPr>
        <p:spPr>
          <a:xfrm>
            <a:off x="950976" y="5212080"/>
            <a:ext cx="1847088" cy="228600"/>
          </a:xfrm>
          <a:prstGeom prst="rect">
            <a:avLst/>
          </a:prstGeom>
          <a:noFill/>
          <a:ln/>
        </p:spPr>
        <p:txBody>
          <a:bodyPr wrap="square" lIns="0" tIns="0" rIns="0" bIns="0" rtlCol="0" anchor="t">
            <a:normAutofit/>
          </a:bodyPr>
          <a:lstStyle/>
          <a:p>
            <a:pPr indent="0" marL="0">
              <a:buNone/>
            </a:pPr>
            <a:r>
              <a:rPr lang="en-US" sz="930" dirty="0">
                <a:solidFill>
                  <a:srgbClr val="AAB7CC"/>
                </a:solidFill>
              </a:rPr>
              <a:t>name, email, password, role</a:t>
            </a:r>
            <a:endParaRPr lang="en-US" sz="930" dirty="0"/>
          </a:p>
        </p:txBody>
      </p:sp>
      <p:sp>
        <p:nvSpPr>
          <p:cNvPr id="30" name="Shape 28"/>
          <p:cNvSpPr/>
          <p:nvPr/>
        </p:nvSpPr>
        <p:spPr>
          <a:xfrm>
            <a:off x="4873752" y="4681728"/>
            <a:ext cx="2176272" cy="941832"/>
          </a:xfrm>
          <a:prstGeom prst="roundRect">
            <a:avLst>
              <a:gd name="adj" fmla="val 11650"/>
            </a:avLst>
          </a:prstGeom>
          <a:solidFill>
            <a:srgbClr val="101827"/>
          </a:solidFill>
          <a:ln w="12700">
            <a:solidFill>
              <a:srgbClr val="25344C"/>
            </a:solidFill>
            <a:prstDash val="solid"/>
          </a:ln>
        </p:spPr>
      </p:sp>
      <p:sp>
        <p:nvSpPr>
          <p:cNvPr id="31" name="Shape 29"/>
          <p:cNvSpPr/>
          <p:nvPr/>
        </p:nvSpPr>
        <p:spPr>
          <a:xfrm>
            <a:off x="4873752" y="4681728"/>
            <a:ext cx="73152" cy="941832"/>
          </a:xfrm>
          <a:prstGeom prst="rect">
            <a:avLst/>
          </a:prstGeom>
          <a:solidFill>
            <a:srgbClr val="FFD166"/>
          </a:solidFill>
          <a:ln w="6350">
            <a:solidFill>
              <a:srgbClr val="FFD166">
                <a:alpha val="0"/>
              </a:srgbClr>
            </a:solidFill>
            <a:prstDash val="solid"/>
          </a:ln>
        </p:spPr>
      </p:sp>
      <p:sp>
        <p:nvSpPr>
          <p:cNvPr id="32" name="Text 30"/>
          <p:cNvSpPr/>
          <p:nvPr/>
        </p:nvSpPr>
        <p:spPr>
          <a:xfrm>
            <a:off x="5074920" y="4846320"/>
            <a:ext cx="1865376"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tasks</a:t>
            </a:r>
            <a:endParaRPr lang="en-US" sz="1220" dirty="0"/>
          </a:p>
        </p:txBody>
      </p:sp>
      <p:sp>
        <p:nvSpPr>
          <p:cNvPr id="33" name="Text 31"/>
          <p:cNvSpPr/>
          <p:nvPr/>
        </p:nvSpPr>
        <p:spPr>
          <a:xfrm>
            <a:off x="5074920" y="5212080"/>
            <a:ext cx="1847088" cy="228600"/>
          </a:xfrm>
          <a:prstGeom prst="rect">
            <a:avLst/>
          </a:prstGeom>
          <a:noFill/>
          <a:ln/>
        </p:spPr>
        <p:txBody>
          <a:bodyPr wrap="square" lIns="0" tIns="0" rIns="0" bIns="0" rtlCol="0" anchor="t">
            <a:normAutofit/>
          </a:bodyPr>
          <a:lstStyle/>
          <a:p>
            <a:pPr indent="0" marL="0">
              <a:buNone/>
            </a:pPr>
            <a:r>
              <a:rPr lang="en-US" sz="930" dirty="0">
                <a:solidFill>
                  <a:srgbClr val="AAB7CC"/>
                </a:solidFill>
              </a:rPr>
              <a:t>title, due date, status</a:t>
            </a:r>
            <a:endParaRPr lang="en-US" sz="930" dirty="0"/>
          </a:p>
        </p:txBody>
      </p:sp>
      <p:sp>
        <p:nvSpPr>
          <p:cNvPr id="34" name="Shape 32"/>
          <p:cNvSpPr/>
          <p:nvPr/>
        </p:nvSpPr>
        <p:spPr>
          <a:xfrm>
            <a:off x="5230368" y="1481328"/>
            <a:ext cx="1353312" cy="283464"/>
          </a:xfrm>
          <a:prstGeom prst="roundRect">
            <a:avLst>
              <a:gd name="adj" fmla="val 38710"/>
            </a:avLst>
          </a:prstGeom>
          <a:solidFill>
            <a:srgbClr val="80F2A1">
              <a:alpha val="16000"/>
            </a:srgbClr>
          </a:solidFill>
          <a:ln w="12700">
            <a:solidFill>
              <a:srgbClr val="80F2A1"/>
            </a:solidFill>
            <a:prstDash val="solid"/>
          </a:ln>
        </p:spPr>
      </p:sp>
      <p:sp>
        <p:nvSpPr>
          <p:cNvPr id="35" name="Text 33"/>
          <p:cNvSpPr/>
          <p:nvPr/>
        </p:nvSpPr>
        <p:spPr>
          <a:xfrm>
            <a:off x="5330952" y="1550822"/>
            <a:ext cx="1188720" cy="118872"/>
          </a:xfrm>
          <a:prstGeom prst="rect">
            <a:avLst/>
          </a:prstGeom>
          <a:noFill/>
          <a:ln/>
        </p:spPr>
        <p:txBody>
          <a:bodyPr wrap="square" lIns="0" tIns="0" rIns="0" bIns="0" rtlCol="0" anchor="ctr"/>
          <a:lstStyle/>
          <a:p>
            <a:pPr indent="0" marL="0">
              <a:buNone/>
            </a:pPr>
            <a:r>
              <a:rPr lang="en-US" sz="640" b="1" dirty="0">
                <a:solidFill>
                  <a:srgbClr val="80F2A1"/>
                </a:solidFill>
              </a:rPr>
              <a:t>BRIDGE TABLE</a:t>
            </a:r>
            <a:endParaRPr lang="en-US" sz="640" dirty="0"/>
          </a:p>
        </p:txBody>
      </p:sp>
      <p:sp>
        <p:nvSpPr>
          <p:cNvPr id="36" name="Text 34"/>
          <p:cNvSpPr/>
          <p:nvPr/>
        </p:nvSpPr>
        <p:spPr>
          <a:xfrm>
            <a:off x="3337560" y="2514600"/>
            <a:ext cx="731520" cy="164592"/>
          </a:xfrm>
          <a:prstGeom prst="rect">
            <a:avLst/>
          </a:prstGeom>
          <a:noFill/>
          <a:ln/>
        </p:spPr>
        <p:txBody>
          <a:bodyPr wrap="square" lIns="0" tIns="0" rIns="0" bIns="0" rtlCol="0" anchor="ctr"/>
          <a:lstStyle/>
          <a:p>
            <a:pPr indent="0" marL="0">
              <a:buNone/>
            </a:pPr>
            <a:r>
              <a:rPr lang="en-US" sz="750" b="1" dirty="0">
                <a:solidFill>
                  <a:srgbClr val="00B7FF"/>
                </a:solidFill>
              </a:rPr>
              <a:t>1 → many</a:t>
            </a:r>
            <a:endParaRPr lang="en-US" sz="750" dirty="0"/>
          </a:p>
        </p:txBody>
      </p:sp>
      <p:sp>
        <p:nvSpPr>
          <p:cNvPr id="37" name="Text 35"/>
          <p:cNvSpPr/>
          <p:nvPr/>
        </p:nvSpPr>
        <p:spPr>
          <a:xfrm>
            <a:off x="7699248" y="2514600"/>
            <a:ext cx="777240" cy="164592"/>
          </a:xfrm>
          <a:prstGeom prst="rect">
            <a:avLst/>
          </a:prstGeom>
          <a:noFill/>
          <a:ln/>
        </p:spPr>
        <p:txBody>
          <a:bodyPr wrap="square" lIns="0" tIns="0" rIns="0" bIns="0" rtlCol="0" anchor="ctr"/>
          <a:lstStyle/>
          <a:p>
            <a:pPr indent="0" marL="0">
              <a:buNone/>
            </a:pPr>
            <a:r>
              <a:rPr lang="en-US" sz="750" b="1" dirty="0">
                <a:solidFill>
                  <a:srgbClr val="34E6C2"/>
                </a:solidFill>
              </a:rPr>
              <a:t>many ← 1</a:t>
            </a:r>
            <a:endParaRPr lang="en-US" sz="750" dirty="0"/>
          </a:p>
        </p:txBody>
      </p:sp>
      <p:sp>
        <p:nvSpPr>
          <p:cNvPr id="38" name="Shape 36"/>
          <p:cNvSpPr/>
          <p:nvPr/>
        </p:nvSpPr>
        <p:spPr>
          <a:xfrm>
            <a:off x="1645920" y="5989320"/>
            <a:ext cx="8778240" cy="365760"/>
          </a:xfrm>
          <a:prstGeom prst="roundRect">
            <a:avLst>
              <a:gd name="adj" fmla="val 30000"/>
            </a:avLst>
          </a:prstGeom>
          <a:solidFill>
            <a:srgbClr val="0D1524"/>
          </a:solidFill>
          <a:ln w="12700">
            <a:solidFill>
              <a:srgbClr val="1F2A44"/>
            </a:solidFill>
            <a:prstDash val="solid"/>
          </a:ln>
        </p:spPr>
      </p:sp>
      <p:sp>
        <p:nvSpPr>
          <p:cNvPr id="39" name="Text 37"/>
          <p:cNvSpPr/>
          <p:nvPr/>
        </p:nvSpPr>
        <p:spPr>
          <a:xfrm>
            <a:off x="1956816" y="6108192"/>
            <a:ext cx="8138160" cy="109728"/>
          </a:xfrm>
          <a:prstGeom prst="rect">
            <a:avLst/>
          </a:prstGeom>
          <a:noFill/>
          <a:ln/>
        </p:spPr>
        <p:txBody>
          <a:bodyPr wrap="square" lIns="0" tIns="0" rIns="0" bIns="0" rtlCol="0" anchor="t">
            <a:normAutofit/>
          </a:bodyPr>
          <a:lstStyle/>
          <a:p>
            <a:pPr indent="0" marL="0">
              <a:buNone/>
            </a:pPr>
            <a:r>
              <a:rPr lang="en-US" sz="890" b="1" dirty="0">
                <a:solidFill>
                  <a:srgbClr val="F7FAFC"/>
                </a:solidFill>
              </a:rPr>
              <a:t>Many-to-many is achieved through applications: many students can apply to many vacancies.</a:t>
            </a:r>
            <a:endParaRPr lang="en-US" sz="8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09</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Relationship code: how Eloquent understands the database</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models make database connections readable and reusable.</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713232" y="1572768"/>
            <a:ext cx="5394960" cy="3611880"/>
          </a:xfrm>
          <a:prstGeom prst="roundRect">
            <a:avLst>
              <a:gd name="adj" fmla="val 2025"/>
            </a:avLst>
          </a:prstGeom>
          <a:solidFill>
            <a:srgbClr val="080E1C"/>
          </a:solidFill>
          <a:ln w="12700">
            <a:solidFill>
              <a:srgbClr val="1F2A44"/>
            </a:solidFill>
            <a:prstDash val="solid"/>
          </a:ln>
        </p:spPr>
      </p:sp>
      <p:sp>
        <p:nvSpPr>
          <p:cNvPr id="11" name="Text 9"/>
          <p:cNvSpPr/>
          <p:nvPr/>
        </p:nvSpPr>
        <p:spPr>
          <a:xfrm>
            <a:off x="859536" y="1691640"/>
            <a:ext cx="5102352" cy="146304"/>
          </a:xfrm>
          <a:prstGeom prst="rect">
            <a:avLst/>
          </a:prstGeom>
          <a:noFill/>
          <a:ln/>
        </p:spPr>
        <p:txBody>
          <a:bodyPr wrap="square" lIns="0" tIns="0" rIns="0" bIns="0" rtlCol="0" anchor="ctr"/>
          <a:lstStyle/>
          <a:p>
            <a:pPr indent="0" marL="0">
              <a:buNone/>
            </a:pPr>
            <a:r>
              <a:rPr lang="en-US" sz="760" b="1" dirty="0">
                <a:solidFill>
                  <a:srgbClr val="34E6C2"/>
                </a:solidFill>
              </a:rPr>
              <a:t>Student model</a:t>
            </a:r>
            <a:endParaRPr lang="en-US" sz="760" dirty="0"/>
          </a:p>
        </p:txBody>
      </p:sp>
      <p:sp>
        <p:nvSpPr>
          <p:cNvPr id="12" name="Text 10"/>
          <p:cNvSpPr/>
          <p:nvPr/>
        </p:nvSpPr>
        <p:spPr>
          <a:xfrm>
            <a:off x="859536" y="1920240"/>
            <a:ext cx="5102352" cy="3154680"/>
          </a:xfrm>
          <a:prstGeom prst="rect">
            <a:avLst/>
          </a:prstGeom>
          <a:noFill/>
          <a:ln/>
        </p:spPr>
        <p:txBody>
          <a:bodyPr wrap="square" lIns="254" tIns="254" rIns="254" bIns="254" rtlCol="0" anchor="t">
            <a:normAutofit/>
          </a:bodyPr>
          <a:lstStyle/>
          <a:p>
            <a:pPr indent="0" marL="0">
              <a:buNone/>
            </a:pPr>
            <a:r>
              <a:rPr lang="en-US" sz="750" dirty="0">
                <a:solidFill>
                  <a:srgbClr val="DDE7F5"/>
                </a:solidFill>
                <a:latin typeface="Aptos Mono" pitchFamily="34" charset="0"/>
                <a:ea typeface="Aptos Mono" pitchFamily="34" charset="-122"/>
                <a:cs typeface="Aptos Mono" pitchFamily="34" charset="-120"/>
              </a:rPr>
              <a:t>// Student.php</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public function applications()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return $this-&gt;hasMany(Application::class);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a:p>
            <a:pPr indent="0" marL="0">
              <a:buNone/>
            </a:pP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public function vacancies()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return $this-&gt;belongsToMany(Vacancy::class, 'applications')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-&gt;withPivot('cover_letter', 'status', 'resume_path')</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-&gt;withTimestamps();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p:txBody>
      </p:sp>
      <p:sp>
        <p:nvSpPr>
          <p:cNvPr id="13" name="Shape 11"/>
          <p:cNvSpPr/>
          <p:nvPr/>
        </p:nvSpPr>
        <p:spPr>
          <a:xfrm>
            <a:off x="6355080" y="1572768"/>
            <a:ext cx="5166360" cy="3611880"/>
          </a:xfrm>
          <a:prstGeom prst="roundRect">
            <a:avLst>
              <a:gd name="adj" fmla="val 2025"/>
            </a:avLst>
          </a:prstGeom>
          <a:solidFill>
            <a:srgbClr val="080E1C"/>
          </a:solidFill>
          <a:ln w="12700">
            <a:solidFill>
              <a:srgbClr val="1F2A44"/>
            </a:solidFill>
            <a:prstDash val="solid"/>
          </a:ln>
        </p:spPr>
      </p:sp>
      <p:sp>
        <p:nvSpPr>
          <p:cNvPr id="14" name="Text 12"/>
          <p:cNvSpPr/>
          <p:nvPr/>
        </p:nvSpPr>
        <p:spPr>
          <a:xfrm>
            <a:off x="6501384" y="1691640"/>
            <a:ext cx="4873752" cy="146304"/>
          </a:xfrm>
          <a:prstGeom prst="rect">
            <a:avLst/>
          </a:prstGeom>
          <a:noFill/>
          <a:ln/>
        </p:spPr>
        <p:txBody>
          <a:bodyPr wrap="square" lIns="0" tIns="0" rIns="0" bIns="0" rtlCol="0" anchor="ctr"/>
          <a:lstStyle/>
          <a:p>
            <a:pPr indent="0" marL="0">
              <a:buNone/>
            </a:pPr>
            <a:r>
              <a:rPr lang="en-US" sz="760" b="1" dirty="0">
                <a:solidFill>
                  <a:srgbClr val="34E6C2"/>
                </a:solidFill>
              </a:rPr>
              <a:t>Vacancy model</a:t>
            </a:r>
            <a:endParaRPr lang="en-US" sz="760" dirty="0"/>
          </a:p>
        </p:txBody>
      </p:sp>
      <p:sp>
        <p:nvSpPr>
          <p:cNvPr id="15" name="Text 13"/>
          <p:cNvSpPr/>
          <p:nvPr/>
        </p:nvSpPr>
        <p:spPr>
          <a:xfrm>
            <a:off x="6501384" y="1920240"/>
            <a:ext cx="4873752" cy="3154680"/>
          </a:xfrm>
          <a:prstGeom prst="rect">
            <a:avLst/>
          </a:prstGeom>
          <a:noFill/>
          <a:ln/>
        </p:spPr>
        <p:txBody>
          <a:bodyPr wrap="square" lIns="254" tIns="254" rIns="254" bIns="254" rtlCol="0" anchor="t">
            <a:normAutofit/>
          </a:bodyPr>
          <a:lstStyle/>
          <a:p>
            <a:pPr indent="0" marL="0">
              <a:buNone/>
            </a:pPr>
            <a:r>
              <a:rPr lang="en-US" sz="750" dirty="0">
                <a:solidFill>
                  <a:srgbClr val="DDE7F5"/>
                </a:solidFill>
                <a:latin typeface="Aptos Mono" pitchFamily="34" charset="0"/>
                <a:ea typeface="Aptos Mono" pitchFamily="34" charset="-122"/>
                <a:cs typeface="Aptos Mono" pitchFamily="34" charset="-120"/>
              </a:rPr>
              <a:t>// Vacancy.php</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public function applications()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return $this-&gt;hasMany(Application::class);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a:p>
            <a:pPr indent="0" marL="0">
              <a:buNone/>
            </a:pP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public function students()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return $this-&gt;belongsToMany(Student::class, 'applications')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-&gt;withPivot('cover_letter', 'status', 'resume_path')</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-&gt;withTimestamps();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p:txBody>
      </p:sp>
      <p:sp>
        <p:nvSpPr>
          <p:cNvPr id="16" name="Shape 14"/>
          <p:cNvSpPr/>
          <p:nvPr/>
        </p:nvSpPr>
        <p:spPr>
          <a:xfrm>
            <a:off x="2057400" y="5687568"/>
            <a:ext cx="8138160" cy="502920"/>
          </a:xfrm>
          <a:prstGeom prst="roundRect">
            <a:avLst>
              <a:gd name="adj" fmla="val 21818"/>
            </a:avLst>
          </a:prstGeom>
          <a:solidFill>
            <a:srgbClr val="0D1524"/>
          </a:solidFill>
          <a:ln w="12700">
            <a:solidFill>
              <a:srgbClr val="1F2A44"/>
            </a:solidFill>
            <a:prstDash val="solid"/>
          </a:ln>
        </p:spPr>
      </p:sp>
      <p:sp>
        <p:nvSpPr>
          <p:cNvPr id="17" name="Text 15"/>
          <p:cNvSpPr/>
          <p:nvPr/>
        </p:nvSpPr>
        <p:spPr>
          <a:xfrm>
            <a:off x="2359152" y="5870448"/>
            <a:ext cx="7516368" cy="118872"/>
          </a:xfrm>
          <a:prstGeom prst="rect">
            <a:avLst/>
          </a:prstGeom>
          <a:noFill/>
          <a:ln/>
        </p:spPr>
        <p:txBody>
          <a:bodyPr wrap="square" lIns="0" tIns="0" rIns="0" bIns="0" rtlCol="0" anchor="t">
            <a:normAutofit/>
          </a:bodyPr>
          <a:lstStyle/>
          <a:p>
            <a:pPr indent="0" marL="0">
              <a:buNone/>
            </a:pPr>
            <a:r>
              <a:rPr lang="en-US" sz="950" b="1" dirty="0">
                <a:solidFill>
                  <a:srgbClr val="F7FAFC"/>
                </a:solidFill>
              </a:rPr>
              <a:t>This code lets the controller load related students, vacancies, applications, and pivot data without writing manual SQL joins.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10</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CRUD and validation: controlled data entry</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Forms are protected, validated, and connected to controllers.</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1005840" y="1508760"/>
            <a:ext cx="2194560" cy="1170432"/>
          </a:xfrm>
          <a:prstGeom prst="roundRect">
            <a:avLst>
              <a:gd name="adj" fmla="val 12500"/>
            </a:avLst>
          </a:prstGeom>
          <a:solidFill>
            <a:srgbClr val="121D31"/>
          </a:solidFill>
          <a:ln w="12700">
            <a:solidFill>
              <a:srgbClr val="25344C"/>
            </a:solidFill>
            <a:prstDash val="solid"/>
          </a:ln>
        </p:spPr>
      </p:sp>
      <p:sp>
        <p:nvSpPr>
          <p:cNvPr id="11" name="Text 9"/>
          <p:cNvSpPr/>
          <p:nvPr/>
        </p:nvSpPr>
        <p:spPr>
          <a:xfrm>
            <a:off x="1207008" y="1673352"/>
            <a:ext cx="1810512" cy="301752"/>
          </a:xfrm>
          <a:prstGeom prst="rect">
            <a:avLst/>
          </a:prstGeom>
          <a:noFill/>
          <a:ln/>
        </p:spPr>
        <p:txBody>
          <a:bodyPr wrap="square" lIns="0" tIns="0" rIns="0" bIns="0" rtlCol="0" anchor="ctr">
            <a:normAutofit/>
          </a:bodyPr>
          <a:lstStyle/>
          <a:p>
            <a:pPr indent="0" marL="0">
              <a:buNone/>
            </a:pPr>
            <a:r>
              <a:rPr lang="en-US" sz="1700" b="1" dirty="0">
                <a:solidFill>
                  <a:srgbClr val="00B7FF"/>
                </a:solidFill>
              </a:rPr>
              <a:t>Create</a:t>
            </a:r>
            <a:endParaRPr lang="en-US" sz="1700" dirty="0"/>
          </a:p>
        </p:txBody>
      </p:sp>
      <p:sp>
        <p:nvSpPr>
          <p:cNvPr id="12" name="Text 10"/>
          <p:cNvSpPr/>
          <p:nvPr/>
        </p:nvSpPr>
        <p:spPr>
          <a:xfrm>
            <a:off x="1207008" y="2084832"/>
            <a:ext cx="1810512" cy="384048"/>
          </a:xfrm>
          <a:prstGeom prst="rect">
            <a:avLst/>
          </a:prstGeom>
          <a:noFill/>
          <a:ln/>
        </p:spPr>
        <p:txBody>
          <a:bodyPr wrap="square" lIns="0" tIns="0" rIns="0" bIns="0" rtlCol="0" anchor="t">
            <a:normAutofit/>
          </a:bodyPr>
          <a:lstStyle/>
          <a:p>
            <a:pPr indent="0" marL="0">
              <a:buNone/>
            </a:pPr>
            <a:r>
              <a:rPr lang="en-US" sz="970" dirty="0">
                <a:solidFill>
                  <a:srgbClr val="AAB7CC"/>
                </a:solidFill>
              </a:rPr>
              <a:t>new vacancy, student, task, application</a:t>
            </a:r>
            <a:endParaRPr lang="en-US" sz="970" dirty="0"/>
          </a:p>
        </p:txBody>
      </p:sp>
      <p:sp>
        <p:nvSpPr>
          <p:cNvPr id="13" name="Shape 11"/>
          <p:cNvSpPr/>
          <p:nvPr/>
        </p:nvSpPr>
        <p:spPr>
          <a:xfrm>
            <a:off x="4800600" y="2331720"/>
            <a:ext cx="2651760" cy="1170432"/>
          </a:xfrm>
          <a:prstGeom prst="roundRect">
            <a:avLst>
              <a:gd name="adj" fmla="val 12500"/>
            </a:avLst>
          </a:prstGeom>
          <a:solidFill>
            <a:srgbClr val="121D31"/>
          </a:solidFill>
          <a:ln w="12700">
            <a:solidFill>
              <a:srgbClr val="25344C"/>
            </a:solidFill>
            <a:prstDash val="solid"/>
          </a:ln>
        </p:spPr>
      </p:sp>
      <p:sp>
        <p:nvSpPr>
          <p:cNvPr id="14" name="Text 12"/>
          <p:cNvSpPr/>
          <p:nvPr/>
        </p:nvSpPr>
        <p:spPr>
          <a:xfrm>
            <a:off x="5001768" y="2496312"/>
            <a:ext cx="2267712" cy="301752"/>
          </a:xfrm>
          <a:prstGeom prst="rect">
            <a:avLst/>
          </a:prstGeom>
          <a:noFill/>
          <a:ln/>
        </p:spPr>
        <p:txBody>
          <a:bodyPr wrap="square" lIns="0" tIns="0" rIns="0" bIns="0" rtlCol="0" anchor="ctr">
            <a:normAutofit/>
          </a:bodyPr>
          <a:lstStyle/>
          <a:p>
            <a:pPr indent="0" marL="0">
              <a:buNone/>
            </a:pPr>
            <a:r>
              <a:rPr lang="en-US" sz="1700" b="1" dirty="0">
                <a:solidFill>
                  <a:srgbClr val="34E6C2"/>
                </a:solidFill>
              </a:rPr>
              <a:t>Read</a:t>
            </a:r>
            <a:endParaRPr lang="en-US" sz="1700" dirty="0"/>
          </a:p>
        </p:txBody>
      </p:sp>
      <p:sp>
        <p:nvSpPr>
          <p:cNvPr id="15" name="Text 13"/>
          <p:cNvSpPr/>
          <p:nvPr/>
        </p:nvSpPr>
        <p:spPr>
          <a:xfrm>
            <a:off x="5001768" y="2907792"/>
            <a:ext cx="2267712" cy="384048"/>
          </a:xfrm>
          <a:prstGeom prst="rect">
            <a:avLst/>
          </a:prstGeom>
          <a:noFill/>
          <a:ln/>
        </p:spPr>
        <p:txBody>
          <a:bodyPr wrap="square" lIns="0" tIns="0" rIns="0" bIns="0" rtlCol="0" anchor="t">
            <a:normAutofit/>
          </a:bodyPr>
          <a:lstStyle/>
          <a:p>
            <a:pPr indent="0" marL="0">
              <a:buNone/>
            </a:pPr>
            <a:r>
              <a:rPr lang="en-US" sz="970" dirty="0">
                <a:solidFill>
                  <a:srgbClr val="AAB7CC"/>
                </a:solidFill>
              </a:rPr>
              <a:t>index and show pages display database records</a:t>
            </a:r>
            <a:endParaRPr lang="en-US" sz="970" dirty="0"/>
          </a:p>
        </p:txBody>
      </p:sp>
      <p:sp>
        <p:nvSpPr>
          <p:cNvPr id="16" name="Shape 14"/>
          <p:cNvSpPr/>
          <p:nvPr/>
        </p:nvSpPr>
        <p:spPr>
          <a:xfrm>
            <a:off x="2560320" y="4041648"/>
            <a:ext cx="2468880" cy="1170432"/>
          </a:xfrm>
          <a:prstGeom prst="roundRect">
            <a:avLst>
              <a:gd name="adj" fmla="val 12500"/>
            </a:avLst>
          </a:prstGeom>
          <a:solidFill>
            <a:srgbClr val="121D31"/>
          </a:solidFill>
          <a:ln w="12700">
            <a:solidFill>
              <a:srgbClr val="25344C"/>
            </a:solidFill>
            <a:prstDash val="solid"/>
          </a:ln>
        </p:spPr>
      </p:sp>
      <p:sp>
        <p:nvSpPr>
          <p:cNvPr id="17" name="Text 15"/>
          <p:cNvSpPr/>
          <p:nvPr/>
        </p:nvSpPr>
        <p:spPr>
          <a:xfrm>
            <a:off x="2761488" y="4206240"/>
            <a:ext cx="2084832" cy="301752"/>
          </a:xfrm>
          <a:prstGeom prst="rect">
            <a:avLst/>
          </a:prstGeom>
          <a:noFill/>
          <a:ln/>
        </p:spPr>
        <p:txBody>
          <a:bodyPr wrap="square" lIns="0" tIns="0" rIns="0" bIns="0" rtlCol="0" anchor="ctr">
            <a:normAutofit/>
          </a:bodyPr>
          <a:lstStyle/>
          <a:p>
            <a:pPr indent="0" marL="0">
              <a:buNone/>
            </a:pPr>
            <a:r>
              <a:rPr lang="en-US" sz="1700" b="1" dirty="0">
                <a:solidFill>
                  <a:srgbClr val="80F2A1"/>
                </a:solidFill>
              </a:rPr>
              <a:t>Update</a:t>
            </a:r>
            <a:endParaRPr lang="en-US" sz="1700" dirty="0"/>
          </a:p>
        </p:txBody>
      </p:sp>
      <p:sp>
        <p:nvSpPr>
          <p:cNvPr id="18" name="Text 16"/>
          <p:cNvSpPr/>
          <p:nvPr/>
        </p:nvSpPr>
        <p:spPr>
          <a:xfrm>
            <a:off x="2761488" y="4617720"/>
            <a:ext cx="2084832" cy="384048"/>
          </a:xfrm>
          <a:prstGeom prst="rect">
            <a:avLst/>
          </a:prstGeom>
          <a:noFill/>
          <a:ln/>
        </p:spPr>
        <p:txBody>
          <a:bodyPr wrap="square" lIns="0" tIns="0" rIns="0" bIns="0" rtlCol="0" anchor="t">
            <a:normAutofit/>
          </a:bodyPr>
          <a:lstStyle/>
          <a:p>
            <a:pPr indent="0" marL="0">
              <a:buNone/>
            </a:pPr>
            <a:r>
              <a:rPr lang="en-US" sz="970" dirty="0">
                <a:solidFill>
                  <a:srgbClr val="AAB7CC"/>
                </a:solidFill>
              </a:rPr>
              <a:t>edit forms and status changes</a:t>
            </a:r>
            <a:endParaRPr lang="en-US" sz="970" dirty="0"/>
          </a:p>
        </p:txBody>
      </p:sp>
      <p:sp>
        <p:nvSpPr>
          <p:cNvPr id="19" name="Shape 17"/>
          <p:cNvSpPr/>
          <p:nvPr/>
        </p:nvSpPr>
        <p:spPr>
          <a:xfrm>
            <a:off x="731520" y="2788920"/>
            <a:ext cx="2148840" cy="1170432"/>
          </a:xfrm>
          <a:prstGeom prst="roundRect">
            <a:avLst>
              <a:gd name="adj" fmla="val 12500"/>
            </a:avLst>
          </a:prstGeom>
          <a:solidFill>
            <a:srgbClr val="121D31"/>
          </a:solidFill>
          <a:ln w="12700">
            <a:solidFill>
              <a:srgbClr val="25344C"/>
            </a:solidFill>
            <a:prstDash val="solid"/>
          </a:ln>
        </p:spPr>
      </p:sp>
      <p:sp>
        <p:nvSpPr>
          <p:cNvPr id="20" name="Text 18"/>
          <p:cNvSpPr/>
          <p:nvPr/>
        </p:nvSpPr>
        <p:spPr>
          <a:xfrm>
            <a:off x="932688" y="2953512"/>
            <a:ext cx="1764792" cy="301752"/>
          </a:xfrm>
          <a:prstGeom prst="rect">
            <a:avLst/>
          </a:prstGeom>
          <a:noFill/>
          <a:ln/>
        </p:spPr>
        <p:txBody>
          <a:bodyPr wrap="square" lIns="0" tIns="0" rIns="0" bIns="0" rtlCol="0" anchor="ctr">
            <a:normAutofit/>
          </a:bodyPr>
          <a:lstStyle/>
          <a:p>
            <a:pPr indent="0" marL="0">
              <a:buNone/>
            </a:pPr>
            <a:r>
              <a:rPr lang="en-US" sz="1700" b="1" dirty="0">
                <a:solidFill>
                  <a:srgbClr val="FFD166"/>
                </a:solidFill>
              </a:rPr>
              <a:t>Delete</a:t>
            </a:r>
            <a:endParaRPr lang="en-US" sz="1700" dirty="0"/>
          </a:p>
        </p:txBody>
      </p:sp>
      <p:sp>
        <p:nvSpPr>
          <p:cNvPr id="21" name="Text 19"/>
          <p:cNvSpPr/>
          <p:nvPr/>
        </p:nvSpPr>
        <p:spPr>
          <a:xfrm>
            <a:off x="932688" y="3364992"/>
            <a:ext cx="1764792" cy="384048"/>
          </a:xfrm>
          <a:prstGeom prst="rect">
            <a:avLst/>
          </a:prstGeom>
          <a:noFill/>
          <a:ln/>
        </p:spPr>
        <p:txBody>
          <a:bodyPr wrap="square" lIns="0" tIns="0" rIns="0" bIns="0" rtlCol="0" anchor="t">
            <a:normAutofit/>
          </a:bodyPr>
          <a:lstStyle/>
          <a:p>
            <a:pPr indent="0" marL="0">
              <a:buNone/>
            </a:pPr>
            <a:r>
              <a:rPr lang="en-US" sz="970" dirty="0">
                <a:solidFill>
                  <a:srgbClr val="AAB7CC"/>
                </a:solidFill>
              </a:rPr>
              <a:t>protected delete actions</a:t>
            </a:r>
            <a:endParaRPr lang="en-US" sz="970" dirty="0"/>
          </a:p>
        </p:txBody>
      </p:sp>
      <p:sp>
        <p:nvSpPr>
          <p:cNvPr id="22" name="Shape 20"/>
          <p:cNvSpPr/>
          <p:nvPr/>
        </p:nvSpPr>
        <p:spPr>
          <a:xfrm>
            <a:off x="7726680" y="1828800"/>
            <a:ext cx="3566160" cy="2514600"/>
          </a:xfrm>
          <a:prstGeom prst="roundRect">
            <a:avLst>
              <a:gd name="adj" fmla="val 2909"/>
            </a:avLst>
          </a:prstGeom>
          <a:solidFill>
            <a:srgbClr val="080E1C"/>
          </a:solidFill>
          <a:ln w="12700">
            <a:solidFill>
              <a:srgbClr val="1F2A44"/>
            </a:solidFill>
            <a:prstDash val="solid"/>
          </a:ln>
        </p:spPr>
      </p:sp>
      <p:sp>
        <p:nvSpPr>
          <p:cNvPr id="23" name="Text 21"/>
          <p:cNvSpPr/>
          <p:nvPr/>
        </p:nvSpPr>
        <p:spPr>
          <a:xfrm>
            <a:off x="7872984" y="1947672"/>
            <a:ext cx="3273552" cy="146304"/>
          </a:xfrm>
          <a:prstGeom prst="rect">
            <a:avLst/>
          </a:prstGeom>
          <a:noFill/>
          <a:ln/>
        </p:spPr>
        <p:txBody>
          <a:bodyPr wrap="square" lIns="0" tIns="0" rIns="0" bIns="0" rtlCol="0" anchor="ctr"/>
          <a:lstStyle/>
          <a:p>
            <a:pPr indent="0" marL="0">
              <a:buNone/>
            </a:pPr>
            <a:r>
              <a:rPr lang="en-US" sz="760" b="1" dirty="0">
                <a:solidFill>
                  <a:srgbClr val="34E6C2"/>
                </a:solidFill>
              </a:rPr>
              <a:t>Validation + form protection</a:t>
            </a:r>
            <a:endParaRPr lang="en-US" sz="760" dirty="0"/>
          </a:p>
        </p:txBody>
      </p:sp>
      <p:sp>
        <p:nvSpPr>
          <p:cNvPr id="24" name="Text 22"/>
          <p:cNvSpPr/>
          <p:nvPr/>
        </p:nvSpPr>
        <p:spPr>
          <a:xfrm>
            <a:off x="7872984" y="2176272"/>
            <a:ext cx="3273552" cy="2057400"/>
          </a:xfrm>
          <a:prstGeom prst="rect">
            <a:avLst/>
          </a:prstGeom>
          <a:noFill/>
          <a:ln/>
        </p:spPr>
        <p:txBody>
          <a:bodyPr wrap="square" lIns="254" tIns="254" rIns="254" bIns="254" rtlCol="0" anchor="t">
            <a:normAutofit/>
          </a:bodyPr>
          <a:lstStyle/>
          <a:p>
            <a:pPr indent="0" marL="0">
              <a:buNone/>
            </a:pPr>
            <a:r>
              <a:rPr lang="en-US" sz="750" dirty="0">
                <a:solidFill>
                  <a:srgbClr val="DDE7F5"/>
                </a:solidFill>
                <a:latin typeface="Aptos Mono" pitchFamily="34" charset="0"/>
                <a:ea typeface="Aptos Mono" pitchFamily="34" charset="-122"/>
                <a:cs typeface="Aptos Mono" pitchFamily="34" charset="-120"/>
              </a:rPr>
              <a:t>// ApplicationRequest.php</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'resume' =&gt; ['nullable', 'file', 'mimes:pdf,doc,docx', 'max:4096'],</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'status' =&gt; ['required', Rule::in(['pending','reviewed','accepted','rejected'])],</a:t>
            </a:r>
            <a:endParaRPr lang="en-US" sz="750" dirty="0"/>
          </a:p>
          <a:p>
            <a:pPr indent="0" marL="0">
              <a:buNone/>
            </a:pP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Blade forms use @csrf and @method('PUT'/'DELETE')</a:t>
            </a:r>
            <a:endParaRPr lang="en-US" sz="750" dirty="0"/>
          </a:p>
        </p:txBody>
      </p:sp>
      <p:sp>
        <p:nvSpPr>
          <p:cNvPr id="25" name="Shape 23"/>
          <p:cNvSpPr/>
          <p:nvPr/>
        </p:nvSpPr>
        <p:spPr>
          <a:xfrm>
            <a:off x="7726680" y="4617720"/>
            <a:ext cx="3566160" cy="777240"/>
          </a:xfrm>
          <a:prstGeom prst="roundRect">
            <a:avLst>
              <a:gd name="adj" fmla="val 14118"/>
            </a:avLst>
          </a:prstGeom>
          <a:solidFill>
            <a:srgbClr val="0D1524"/>
          </a:solidFill>
          <a:ln w="12700">
            <a:solidFill>
              <a:srgbClr val="1F2A44"/>
            </a:solidFill>
            <a:prstDash val="solid"/>
          </a:ln>
        </p:spPr>
      </p:sp>
      <p:sp>
        <p:nvSpPr>
          <p:cNvPr id="26" name="Text 24"/>
          <p:cNvSpPr/>
          <p:nvPr/>
        </p:nvSpPr>
        <p:spPr>
          <a:xfrm>
            <a:off x="7973568" y="4882896"/>
            <a:ext cx="3063240" cy="201168"/>
          </a:xfrm>
          <a:prstGeom prst="rect">
            <a:avLst/>
          </a:prstGeom>
          <a:noFill/>
          <a:ln/>
        </p:spPr>
        <p:txBody>
          <a:bodyPr wrap="square" lIns="0" tIns="0" rIns="0" bIns="0" rtlCol="0" anchor="t">
            <a:normAutofit/>
          </a:bodyPr>
          <a:lstStyle/>
          <a:p>
            <a:pPr indent="0" marL="0">
              <a:buNone/>
            </a:pPr>
            <a:r>
              <a:rPr lang="en-US" sz="1000" dirty="0">
                <a:solidFill>
                  <a:srgbClr val="F7FAFC"/>
                </a:solidFill>
              </a:rPr>
              <a:t>FormRequest classes keep validation separate from controller logic, so controllers stay cleaner.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11</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File uploads and storage</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Student photos and application resumes are handled through Laravel storage.</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2542032" y="2907792"/>
            <a:ext cx="950976" cy="0"/>
          </a:xfrm>
          <a:prstGeom prst="line">
            <a:avLst/>
          </a:prstGeom>
          <a:noFill/>
          <a:ln w="17780">
            <a:solidFill>
              <a:srgbClr val="233148"/>
            </a:solidFill>
            <a:prstDash val="solid"/>
            <a:headEnd type="none"/>
            <a:tailEnd type="triangle"/>
          </a:ln>
        </p:spPr>
      </p:sp>
      <p:sp>
        <p:nvSpPr>
          <p:cNvPr id="11" name="Shape 9"/>
          <p:cNvSpPr/>
          <p:nvPr/>
        </p:nvSpPr>
        <p:spPr>
          <a:xfrm>
            <a:off x="5148072" y="2907792"/>
            <a:ext cx="950976" cy="0"/>
          </a:xfrm>
          <a:prstGeom prst="line">
            <a:avLst/>
          </a:prstGeom>
          <a:noFill/>
          <a:ln w="17780">
            <a:solidFill>
              <a:srgbClr val="233148"/>
            </a:solidFill>
            <a:prstDash val="solid"/>
            <a:headEnd type="none"/>
            <a:tailEnd type="triangle"/>
          </a:ln>
        </p:spPr>
      </p:sp>
      <p:sp>
        <p:nvSpPr>
          <p:cNvPr id="12" name="Shape 10"/>
          <p:cNvSpPr/>
          <p:nvPr/>
        </p:nvSpPr>
        <p:spPr>
          <a:xfrm>
            <a:off x="7754112" y="2907792"/>
            <a:ext cx="950976" cy="0"/>
          </a:xfrm>
          <a:prstGeom prst="line">
            <a:avLst/>
          </a:prstGeom>
          <a:noFill/>
          <a:ln w="17780">
            <a:solidFill>
              <a:srgbClr val="233148"/>
            </a:solidFill>
            <a:prstDash val="solid"/>
            <a:headEnd type="none"/>
            <a:tailEnd type="triangle"/>
          </a:ln>
        </p:spPr>
      </p:sp>
      <p:sp>
        <p:nvSpPr>
          <p:cNvPr id="13" name="Shape 11"/>
          <p:cNvSpPr/>
          <p:nvPr/>
        </p:nvSpPr>
        <p:spPr>
          <a:xfrm>
            <a:off x="841248" y="2304288"/>
            <a:ext cx="1828800" cy="1234440"/>
          </a:xfrm>
          <a:prstGeom prst="roundRect">
            <a:avLst>
              <a:gd name="adj" fmla="val 8889"/>
            </a:avLst>
          </a:prstGeom>
          <a:solidFill>
            <a:srgbClr val="101827"/>
          </a:solidFill>
          <a:ln w="12700">
            <a:solidFill>
              <a:srgbClr val="25344C"/>
            </a:solidFill>
            <a:prstDash val="solid"/>
          </a:ln>
        </p:spPr>
      </p:sp>
      <p:sp>
        <p:nvSpPr>
          <p:cNvPr id="14" name="Shape 12"/>
          <p:cNvSpPr/>
          <p:nvPr/>
        </p:nvSpPr>
        <p:spPr>
          <a:xfrm>
            <a:off x="841248" y="2304288"/>
            <a:ext cx="73152" cy="1234440"/>
          </a:xfrm>
          <a:prstGeom prst="rect">
            <a:avLst/>
          </a:prstGeom>
          <a:solidFill>
            <a:srgbClr val="00B7FF"/>
          </a:solidFill>
          <a:ln w="6350">
            <a:solidFill>
              <a:srgbClr val="00B7FF">
                <a:alpha val="0"/>
              </a:srgbClr>
            </a:solidFill>
            <a:prstDash val="solid"/>
          </a:ln>
        </p:spPr>
      </p:sp>
      <p:sp>
        <p:nvSpPr>
          <p:cNvPr id="15" name="Text 13"/>
          <p:cNvSpPr/>
          <p:nvPr/>
        </p:nvSpPr>
        <p:spPr>
          <a:xfrm>
            <a:off x="1042416" y="2468880"/>
            <a:ext cx="151790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Form</a:t>
            </a:r>
            <a:endParaRPr lang="en-US" sz="1220" dirty="0"/>
          </a:p>
        </p:txBody>
      </p:sp>
      <p:sp>
        <p:nvSpPr>
          <p:cNvPr id="16" name="Text 14"/>
          <p:cNvSpPr/>
          <p:nvPr/>
        </p:nvSpPr>
        <p:spPr>
          <a:xfrm>
            <a:off x="1042416" y="2834640"/>
            <a:ext cx="1499616" cy="521208"/>
          </a:xfrm>
          <a:prstGeom prst="rect">
            <a:avLst/>
          </a:prstGeom>
          <a:noFill/>
          <a:ln/>
        </p:spPr>
        <p:txBody>
          <a:bodyPr wrap="square" lIns="0" tIns="0" rIns="0" bIns="0" rtlCol="0" anchor="t">
            <a:normAutofit/>
          </a:bodyPr>
          <a:lstStyle/>
          <a:p>
            <a:pPr indent="0" marL="0">
              <a:buNone/>
            </a:pPr>
            <a:r>
              <a:rPr lang="en-US" sz="930" dirty="0">
                <a:solidFill>
                  <a:srgbClr val="AAB7CC"/>
                </a:solidFill>
              </a:rPr>
              <a:t>multipart/form-data</a:t>
            </a:r>
            <a:endParaRPr lang="en-US" sz="930" dirty="0"/>
          </a:p>
        </p:txBody>
      </p:sp>
      <p:sp>
        <p:nvSpPr>
          <p:cNvPr id="17" name="Shape 15"/>
          <p:cNvSpPr/>
          <p:nvPr/>
        </p:nvSpPr>
        <p:spPr>
          <a:xfrm>
            <a:off x="3447288" y="2304288"/>
            <a:ext cx="1828800" cy="1234440"/>
          </a:xfrm>
          <a:prstGeom prst="roundRect">
            <a:avLst>
              <a:gd name="adj" fmla="val 8889"/>
            </a:avLst>
          </a:prstGeom>
          <a:solidFill>
            <a:srgbClr val="101827"/>
          </a:solidFill>
          <a:ln w="12700">
            <a:solidFill>
              <a:srgbClr val="25344C"/>
            </a:solidFill>
            <a:prstDash val="solid"/>
          </a:ln>
        </p:spPr>
      </p:sp>
      <p:sp>
        <p:nvSpPr>
          <p:cNvPr id="18" name="Shape 16"/>
          <p:cNvSpPr/>
          <p:nvPr/>
        </p:nvSpPr>
        <p:spPr>
          <a:xfrm>
            <a:off x="3447288" y="2304288"/>
            <a:ext cx="73152" cy="1234440"/>
          </a:xfrm>
          <a:prstGeom prst="rect">
            <a:avLst/>
          </a:prstGeom>
          <a:solidFill>
            <a:srgbClr val="34E6C2"/>
          </a:solidFill>
          <a:ln w="6350">
            <a:solidFill>
              <a:srgbClr val="34E6C2">
                <a:alpha val="0"/>
              </a:srgbClr>
            </a:solidFill>
            <a:prstDash val="solid"/>
          </a:ln>
        </p:spPr>
      </p:sp>
      <p:sp>
        <p:nvSpPr>
          <p:cNvPr id="19" name="Text 17"/>
          <p:cNvSpPr/>
          <p:nvPr/>
        </p:nvSpPr>
        <p:spPr>
          <a:xfrm>
            <a:off x="3648456" y="2468880"/>
            <a:ext cx="151790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Request validation</a:t>
            </a:r>
            <a:endParaRPr lang="en-US" sz="1220" dirty="0"/>
          </a:p>
        </p:txBody>
      </p:sp>
      <p:sp>
        <p:nvSpPr>
          <p:cNvPr id="20" name="Text 18"/>
          <p:cNvSpPr/>
          <p:nvPr/>
        </p:nvSpPr>
        <p:spPr>
          <a:xfrm>
            <a:off x="3648456" y="2834640"/>
            <a:ext cx="1499616" cy="521208"/>
          </a:xfrm>
          <a:prstGeom prst="rect">
            <a:avLst/>
          </a:prstGeom>
          <a:noFill/>
          <a:ln/>
        </p:spPr>
        <p:txBody>
          <a:bodyPr wrap="square" lIns="0" tIns="0" rIns="0" bIns="0" rtlCol="0" anchor="t">
            <a:normAutofit/>
          </a:bodyPr>
          <a:lstStyle/>
          <a:p>
            <a:pPr indent="0" marL="0">
              <a:buNone/>
            </a:pPr>
            <a:r>
              <a:rPr lang="en-US" sz="930" dirty="0">
                <a:solidFill>
                  <a:srgbClr val="AAB7CC"/>
                </a:solidFill>
              </a:rPr>
              <a:t>image or document rules</a:t>
            </a:r>
            <a:endParaRPr lang="en-US" sz="930" dirty="0"/>
          </a:p>
        </p:txBody>
      </p:sp>
      <p:sp>
        <p:nvSpPr>
          <p:cNvPr id="21" name="Shape 19"/>
          <p:cNvSpPr/>
          <p:nvPr/>
        </p:nvSpPr>
        <p:spPr>
          <a:xfrm>
            <a:off x="6053328" y="2304288"/>
            <a:ext cx="1828800" cy="1234440"/>
          </a:xfrm>
          <a:prstGeom prst="roundRect">
            <a:avLst>
              <a:gd name="adj" fmla="val 8889"/>
            </a:avLst>
          </a:prstGeom>
          <a:solidFill>
            <a:srgbClr val="101827"/>
          </a:solidFill>
          <a:ln w="12700">
            <a:solidFill>
              <a:srgbClr val="25344C"/>
            </a:solidFill>
            <a:prstDash val="solid"/>
          </a:ln>
        </p:spPr>
      </p:sp>
      <p:sp>
        <p:nvSpPr>
          <p:cNvPr id="22" name="Shape 20"/>
          <p:cNvSpPr/>
          <p:nvPr/>
        </p:nvSpPr>
        <p:spPr>
          <a:xfrm>
            <a:off x="6053328" y="2304288"/>
            <a:ext cx="73152" cy="1234440"/>
          </a:xfrm>
          <a:prstGeom prst="rect">
            <a:avLst/>
          </a:prstGeom>
          <a:solidFill>
            <a:srgbClr val="80F2A1"/>
          </a:solidFill>
          <a:ln w="6350">
            <a:solidFill>
              <a:srgbClr val="80F2A1">
                <a:alpha val="0"/>
              </a:srgbClr>
            </a:solidFill>
            <a:prstDash val="solid"/>
          </a:ln>
        </p:spPr>
      </p:sp>
      <p:sp>
        <p:nvSpPr>
          <p:cNvPr id="23" name="Text 21"/>
          <p:cNvSpPr/>
          <p:nvPr/>
        </p:nvSpPr>
        <p:spPr>
          <a:xfrm>
            <a:off x="6254496" y="2468880"/>
            <a:ext cx="151790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Storage</a:t>
            </a:r>
            <a:endParaRPr lang="en-US" sz="1220" dirty="0"/>
          </a:p>
        </p:txBody>
      </p:sp>
      <p:sp>
        <p:nvSpPr>
          <p:cNvPr id="24" name="Text 22"/>
          <p:cNvSpPr/>
          <p:nvPr/>
        </p:nvSpPr>
        <p:spPr>
          <a:xfrm>
            <a:off x="6254496" y="2834640"/>
            <a:ext cx="1499616" cy="521208"/>
          </a:xfrm>
          <a:prstGeom prst="rect">
            <a:avLst/>
          </a:prstGeom>
          <a:noFill/>
          <a:ln/>
        </p:spPr>
        <p:txBody>
          <a:bodyPr wrap="square" lIns="0" tIns="0" rIns="0" bIns="0" rtlCol="0" anchor="t">
            <a:normAutofit/>
          </a:bodyPr>
          <a:lstStyle/>
          <a:p>
            <a:pPr indent="0" marL="0">
              <a:buNone/>
            </a:pPr>
            <a:r>
              <a:rPr lang="en-US" sz="930" dirty="0">
                <a:solidFill>
                  <a:srgbClr val="AAB7CC"/>
                </a:solidFill>
              </a:rPr>
              <a:t>public disk path</a:t>
            </a:r>
            <a:endParaRPr lang="en-US" sz="930" dirty="0"/>
          </a:p>
        </p:txBody>
      </p:sp>
      <p:sp>
        <p:nvSpPr>
          <p:cNvPr id="25" name="Shape 23"/>
          <p:cNvSpPr/>
          <p:nvPr/>
        </p:nvSpPr>
        <p:spPr>
          <a:xfrm>
            <a:off x="8659368" y="2304288"/>
            <a:ext cx="1828800" cy="1234440"/>
          </a:xfrm>
          <a:prstGeom prst="roundRect">
            <a:avLst>
              <a:gd name="adj" fmla="val 8889"/>
            </a:avLst>
          </a:prstGeom>
          <a:solidFill>
            <a:srgbClr val="101827"/>
          </a:solidFill>
          <a:ln w="12700">
            <a:solidFill>
              <a:srgbClr val="25344C"/>
            </a:solidFill>
            <a:prstDash val="solid"/>
          </a:ln>
        </p:spPr>
      </p:sp>
      <p:sp>
        <p:nvSpPr>
          <p:cNvPr id="26" name="Shape 24"/>
          <p:cNvSpPr/>
          <p:nvPr/>
        </p:nvSpPr>
        <p:spPr>
          <a:xfrm>
            <a:off x="8659368" y="2304288"/>
            <a:ext cx="73152" cy="1234440"/>
          </a:xfrm>
          <a:prstGeom prst="rect">
            <a:avLst/>
          </a:prstGeom>
          <a:solidFill>
            <a:srgbClr val="FFD166"/>
          </a:solidFill>
          <a:ln w="6350">
            <a:solidFill>
              <a:srgbClr val="FFD166">
                <a:alpha val="0"/>
              </a:srgbClr>
            </a:solidFill>
            <a:prstDash val="solid"/>
          </a:ln>
        </p:spPr>
      </p:sp>
      <p:sp>
        <p:nvSpPr>
          <p:cNvPr id="27" name="Text 25"/>
          <p:cNvSpPr/>
          <p:nvPr/>
        </p:nvSpPr>
        <p:spPr>
          <a:xfrm>
            <a:off x="8860536" y="2468880"/>
            <a:ext cx="1517904" cy="219456"/>
          </a:xfrm>
          <a:prstGeom prst="rect">
            <a:avLst/>
          </a:prstGeom>
          <a:noFill/>
          <a:ln/>
        </p:spPr>
        <p:txBody>
          <a:bodyPr wrap="square" lIns="0" tIns="0" rIns="0" bIns="0" rtlCol="0" anchor="ctr">
            <a:normAutofit/>
          </a:bodyPr>
          <a:lstStyle/>
          <a:p>
            <a:pPr indent="0" marL="0">
              <a:buNone/>
            </a:pPr>
            <a:r>
              <a:rPr lang="en-US" sz="1220" b="1" dirty="0">
                <a:solidFill>
                  <a:srgbClr val="F7FAFC"/>
                </a:solidFill>
              </a:rPr>
              <a:t>Database</a:t>
            </a:r>
            <a:endParaRPr lang="en-US" sz="1220" dirty="0"/>
          </a:p>
        </p:txBody>
      </p:sp>
      <p:sp>
        <p:nvSpPr>
          <p:cNvPr id="28" name="Text 26"/>
          <p:cNvSpPr/>
          <p:nvPr/>
        </p:nvSpPr>
        <p:spPr>
          <a:xfrm>
            <a:off x="8860536" y="2834640"/>
            <a:ext cx="1499616" cy="521208"/>
          </a:xfrm>
          <a:prstGeom prst="rect">
            <a:avLst/>
          </a:prstGeom>
          <a:noFill/>
          <a:ln/>
        </p:spPr>
        <p:txBody>
          <a:bodyPr wrap="square" lIns="0" tIns="0" rIns="0" bIns="0" rtlCol="0" anchor="t">
            <a:normAutofit/>
          </a:bodyPr>
          <a:lstStyle/>
          <a:p>
            <a:pPr indent="0" marL="0">
              <a:buNone/>
            </a:pPr>
            <a:r>
              <a:rPr lang="en-US" sz="930" dirty="0">
                <a:solidFill>
                  <a:srgbClr val="AAB7CC"/>
                </a:solidFill>
              </a:rPr>
              <a:t>path saved with record</a:t>
            </a:r>
            <a:endParaRPr lang="en-US" sz="930" dirty="0"/>
          </a:p>
        </p:txBody>
      </p:sp>
      <p:sp>
        <p:nvSpPr>
          <p:cNvPr id="29" name="Shape 27"/>
          <p:cNvSpPr/>
          <p:nvPr/>
        </p:nvSpPr>
        <p:spPr>
          <a:xfrm>
            <a:off x="1143000" y="4370832"/>
            <a:ext cx="9829800" cy="1234440"/>
          </a:xfrm>
          <a:prstGeom prst="roundRect">
            <a:avLst>
              <a:gd name="adj" fmla="val 5926"/>
            </a:avLst>
          </a:prstGeom>
          <a:solidFill>
            <a:srgbClr val="080E1C"/>
          </a:solidFill>
          <a:ln w="12700">
            <a:solidFill>
              <a:srgbClr val="1F2A44"/>
            </a:solidFill>
            <a:prstDash val="solid"/>
          </a:ln>
        </p:spPr>
      </p:sp>
      <p:sp>
        <p:nvSpPr>
          <p:cNvPr id="30" name="Text 28"/>
          <p:cNvSpPr/>
          <p:nvPr/>
        </p:nvSpPr>
        <p:spPr>
          <a:xfrm>
            <a:off x="1289304" y="4489704"/>
            <a:ext cx="9537192" cy="146304"/>
          </a:xfrm>
          <a:prstGeom prst="rect">
            <a:avLst/>
          </a:prstGeom>
          <a:noFill/>
          <a:ln/>
        </p:spPr>
        <p:txBody>
          <a:bodyPr wrap="square" lIns="0" tIns="0" rIns="0" bIns="0" rtlCol="0" anchor="ctr"/>
          <a:lstStyle/>
          <a:p>
            <a:pPr indent="0" marL="0">
              <a:buNone/>
            </a:pPr>
            <a:r>
              <a:rPr lang="en-US" sz="760" b="1" dirty="0">
                <a:solidFill>
                  <a:srgbClr val="34E6C2"/>
                </a:solidFill>
              </a:rPr>
              <a:t>Storage path is saved, not the file itself</a:t>
            </a:r>
            <a:endParaRPr lang="en-US" sz="760" dirty="0"/>
          </a:p>
        </p:txBody>
      </p:sp>
      <p:sp>
        <p:nvSpPr>
          <p:cNvPr id="31" name="Text 29"/>
          <p:cNvSpPr/>
          <p:nvPr/>
        </p:nvSpPr>
        <p:spPr>
          <a:xfrm>
            <a:off x="1289304" y="4718304"/>
            <a:ext cx="9537192" cy="777240"/>
          </a:xfrm>
          <a:prstGeom prst="rect">
            <a:avLst/>
          </a:prstGeom>
          <a:noFill/>
          <a:ln/>
        </p:spPr>
        <p:txBody>
          <a:bodyPr wrap="square" lIns="254" tIns="254" rIns="254" bIns="254" rtlCol="0" anchor="t">
            <a:normAutofit/>
          </a:bodyPr>
          <a:lstStyle/>
          <a:p>
            <a:pPr indent="0" marL="0">
              <a:buNone/>
            </a:pPr>
            <a:r>
              <a:rPr lang="en-US" sz="750" dirty="0">
                <a:solidFill>
                  <a:srgbClr val="DDE7F5"/>
                </a:solidFill>
                <a:latin typeface="Aptos Mono" pitchFamily="34" charset="0"/>
                <a:ea typeface="Aptos Mono" pitchFamily="34" charset="-122"/>
                <a:cs typeface="Aptos Mono" pitchFamily="34" charset="-120"/>
              </a:rPr>
              <a:t>if ($request-&gt;hasFile('photo'))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$validated['photo_path'] = $request-&gt;file('photo')</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-&gt;store('students/photos', 'public');</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a:p>
            <a:pPr indent="0" marL="0">
              <a:buNone/>
            </a:pP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if ($request-&gt;hasFile('resume'))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$validated['resume_path'] = $request-&gt;file('resume')</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-&gt;store('applications/resumes', 'public');</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12</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API layer: same data, JSON response</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The backend can serve Blade pages and structured API data.</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822960" y="1691640"/>
            <a:ext cx="3840480" cy="4160520"/>
          </a:xfrm>
          <a:prstGeom prst="roundRect">
            <a:avLst>
              <a:gd name="adj" fmla="val 3810"/>
            </a:avLst>
          </a:prstGeom>
          <a:solidFill>
            <a:srgbClr val="101827"/>
          </a:solidFill>
          <a:ln w="12700">
            <a:solidFill>
              <a:srgbClr val="25344C"/>
            </a:solidFill>
            <a:prstDash val="solid"/>
          </a:ln>
        </p:spPr>
      </p:sp>
      <p:sp>
        <p:nvSpPr>
          <p:cNvPr id="11" name="Text 9"/>
          <p:cNvSpPr/>
          <p:nvPr/>
        </p:nvSpPr>
        <p:spPr>
          <a:xfrm>
            <a:off x="1115568" y="1993392"/>
            <a:ext cx="1188720" cy="201168"/>
          </a:xfrm>
          <a:prstGeom prst="rect">
            <a:avLst/>
          </a:prstGeom>
          <a:noFill/>
          <a:ln/>
        </p:spPr>
        <p:txBody>
          <a:bodyPr wrap="square" lIns="0" tIns="0" rIns="0" bIns="0" rtlCol="0" anchor="ctr"/>
          <a:lstStyle/>
          <a:p>
            <a:pPr indent="0" marL="0">
              <a:buNone/>
            </a:pPr>
            <a:r>
              <a:rPr lang="en-US" sz="1250" b="1" dirty="0">
                <a:solidFill>
                  <a:srgbClr val="00B7FF"/>
                </a:solidFill>
              </a:rPr>
              <a:t>API routes</a:t>
            </a:r>
            <a:endParaRPr lang="en-US" sz="1250" dirty="0"/>
          </a:p>
        </p:txBody>
      </p:sp>
      <p:sp>
        <p:nvSpPr>
          <p:cNvPr id="12" name="Text 10"/>
          <p:cNvSpPr/>
          <p:nvPr/>
        </p:nvSpPr>
        <p:spPr>
          <a:xfrm>
            <a:off x="1207008" y="2578608"/>
            <a:ext cx="2926080" cy="1188720"/>
          </a:xfrm>
          <a:prstGeom prst="rect">
            <a:avLst/>
          </a:prstGeom>
          <a:noFill/>
          <a:ln/>
        </p:spPr>
        <p:txBody>
          <a:bodyPr wrap="square" lIns="762" tIns="762" rIns="762" bIns="762" rtlCol="0" anchor="t">
            <a:normAutofit/>
          </a:bodyPr>
          <a:lstStyle/>
          <a:p>
            <a:r>
              <a:rPr lang="en-US" sz="1400" dirty="0">
                <a:solidFill>
                  <a:srgbClr val="F7FAFC"/>
                </a:solidFill>
              </a:rPr>
              <a:t>/api/v1/vacancies</a:t>
            </a:r>
            <a:endParaRPr lang="en-US" sz="1400" dirty="0"/>
          </a:p>
          <a:p>
            <a:r>
              <a:rPr lang="en-US" sz="1400" dirty="0">
                <a:solidFill>
                  <a:srgbClr val="F7FAFC"/>
                </a:solidFill>
              </a:rPr>
              <a:t>/api/v1/students</a:t>
            </a:r>
            <a:endParaRPr lang="en-US" sz="1400" dirty="0"/>
          </a:p>
          <a:p>
            <a:r>
              <a:rPr lang="en-US" sz="1400" dirty="0">
                <a:solidFill>
                  <a:srgbClr val="F7FAFC"/>
                </a:solidFill>
              </a:rPr>
              <a:t>/api/v1/applications</a:t>
            </a:r>
            <a:endParaRPr lang="en-US" sz="1400" dirty="0"/>
          </a:p>
        </p:txBody>
      </p:sp>
      <p:sp>
        <p:nvSpPr>
          <p:cNvPr id="13" name="Text 11"/>
          <p:cNvSpPr/>
          <p:nvPr/>
        </p:nvSpPr>
        <p:spPr>
          <a:xfrm>
            <a:off x="1207008" y="4389120"/>
            <a:ext cx="2926080" cy="475488"/>
          </a:xfrm>
          <a:prstGeom prst="rect">
            <a:avLst/>
          </a:prstGeom>
          <a:noFill/>
          <a:ln/>
        </p:spPr>
        <p:txBody>
          <a:bodyPr wrap="square" lIns="0" tIns="0" rIns="0" bIns="0" rtlCol="0" anchor="t">
            <a:normAutofit/>
          </a:bodyPr>
          <a:lstStyle/>
          <a:p>
            <a:pPr indent="0" marL="0">
              <a:buNone/>
            </a:pPr>
            <a:r>
              <a:rPr lang="en-US" sz="1020" dirty="0">
                <a:solidFill>
                  <a:srgbClr val="AAB7CC"/>
                </a:solidFill>
              </a:rPr>
              <a:t>These routes are handled by API controllers and return JSON instead of a Blade page.</a:t>
            </a:r>
            <a:endParaRPr lang="en-US" sz="1020" dirty="0"/>
          </a:p>
        </p:txBody>
      </p:sp>
      <p:sp>
        <p:nvSpPr>
          <p:cNvPr id="14" name="Shape 12"/>
          <p:cNvSpPr/>
          <p:nvPr/>
        </p:nvSpPr>
        <p:spPr>
          <a:xfrm>
            <a:off x="5074920" y="1691640"/>
            <a:ext cx="6172200" cy="4160520"/>
          </a:xfrm>
          <a:prstGeom prst="roundRect">
            <a:avLst>
              <a:gd name="adj" fmla="val 1758"/>
            </a:avLst>
          </a:prstGeom>
          <a:solidFill>
            <a:srgbClr val="080E1C"/>
          </a:solidFill>
          <a:ln w="12700">
            <a:solidFill>
              <a:srgbClr val="1F2A44"/>
            </a:solidFill>
            <a:prstDash val="solid"/>
          </a:ln>
        </p:spPr>
      </p:sp>
      <p:sp>
        <p:nvSpPr>
          <p:cNvPr id="15" name="Text 13"/>
          <p:cNvSpPr/>
          <p:nvPr/>
        </p:nvSpPr>
        <p:spPr>
          <a:xfrm>
            <a:off x="5221224" y="1810512"/>
            <a:ext cx="5879592" cy="146304"/>
          </a:xfrm>
          <a:prstGeom prst="rect">
            <a:avLst/>
          </a:prstGeom>
          <a:noFill/>
          <a:ln/>
        </p:spPr>
        <p:txBody>
          <a:bodyPr wrap="square" lIns="0" tIns="0" rIns="0" bIns="0" rtlCol="0" anchor="ctr"/>
          <a:lstStyle/>
          <a:p>
            <a:pPr indent="0" marL="0">
              <a:buNone/>
            </a:pPr>
            <a:r>
              <a:rPr lang="en-US" sz="760" b="1" dirty="0">
                <a:solidFill>
                  <a:srgbClr val="34E6C2"/>
                </a:solidFill>
              </a:rPr>
              <a:t>routes/api.php + API resources</a:t>
            </a:r>
            <a:endParaRPr lang="en-US" sz="760" dirty="0"/>
          </a:p>
        </p:txBody>
      </p:sp>
      <p:sp>
        <p:nvSpPr>
          <p:cNvPr id="16" name="Text 14"/>
          <p:cNvSpPr/>
          <p:nvPr/>
        </p:nvSpPr>
        <p:spPr>
          <a:xfrm>
            <a:off x="5221224" y="2039112"/>
            <a:ext cx="5879592" cy="3703320"/>
          </a:xfrm>
          <a:prstGeom prst="rect">
            <a:avLst/>
          </a:prstGeom>
          <a:noFill/>
          <a:ln/>
        </p:spPr>
        <p:txBody>
          <a:bodyPr wrap="square" lIns="254" tIns="254" rIns="254" bIns="254" rtlCol="0" anchor="t">
            <a:normAutofit/>
          </a:bodyPr>
          <a:lstStyle/>
          <a:p>
            <a:pPr indent="0" marL="0">
              <a:buNone/>
            </a:pPr>
            <a:r>
              <a:rPr lang="en-US" sz="750" dirty="0">
                <a:solidFill>
                  <a:srgbClr val="DDE7F5"/>
                </a:solidFill>
                <a:latin typeface="Aptos Mono" pitchFamily="34" charset="0"/>
                <a:ea typeface="Aptos Mono" pitchFamily="34" charset="-122"/>
                <a:cs typeface="Aptos Mono" pitchFamily="34" charset="-120"/>
              </a:rPr>
              <a:t>Route::prefix('v1')-&gt;group(function () {</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Route::apiResource('vacancies', ApiVacancyController::class);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Route::apiResource('students', ApiStudentController::class);</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    Route::get('applications', [ApiApplicationController::class, 'index']);</a:t>
            </a: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a:t>
            </a:r>
            <a:endParaRPr lang="en-US" sz="750" dirty="0"/>
          </a:p>
          <a:p>
            <a:pPr indent="0" marL="0">
              <a:buNone/>
            </a:pPr>
            <a:endParaRPr lang="en-US" sz="750" dirty="0"/>
          </a:p>
          <a:p>
            <a:pPr indent="0" marL="0">
              <a:buNone/>
            </a:pPr>
            <a:r>
              <a:rPr lang="en-US" sz="750" dirty="0">
                <a:solidFill>
                  <a:srgbClr val="DDE7F5"/>
                </a:solidFill>
                <a:latin typeface="Aptos Mono" pitchFamily="34" charset="0"/>
                <a:ea typeface="Aptos Mono" pitchFamily="34" charset="-122"/>
                <a:cs typeface="Aptos Mono" pitchFamily="34" charset="-120"/>
              </a:rPr>
              <a:t>return VacancyResource::collection($vacancies);</a:t>
            </a:r>
            <a:endParaRPr lang="en-US" sz="750" dirty="0"/>
          </a:p>
        </p:txBody>
      </p:sp>
      <p:sp>
        <p:nvSpPr>
          <p:cNvPr id="17" name="Shape 15"/>
          <p:cNvSpPr/>
          <p:nvPr/>
        </p:nvSpPr>
        <p:spPr>
          <a:xfrm>
            <a:off x="2194560" y="6199632"/>
            <a:ext cx="7772400" cy="320040"/>
          </a:xfrm>
          <a:prstGeom prst="roundRect">
            <a:avLst>
              <a:gd name="adj" fmla="val 34286"/>
            </a:avLst>
          </a:prstGeom>
          <a:solidFill>
            <a:srgbClr val="0D1524"/>
          </a:solidFill>
          <a:ln w="12700">
            <a:solidFill>
              <a:srgbClr val="1F2A44"/>
            </a:solidFill>
            <a:prstDash val="solid"/>
          </a:ln>
        </p:spPr>
      </p:sp>
      <p:sp>
        <p:nvSpPr>
          <p:cNvPr id="18" name="Text 16"/>
          <p:cNvSpPr/>
          <p:nvPr/>
        </p:nvSpPr>
        <p:spPr>
          <a:xfrm>
            <a:off x="2496312" y="6300216"/>
            <a:ext cx="7178040" cy="91440"/>
          </a:xfrm>
          <a:prstGeom prst="rect">
            <a:avLst/>
          </a:prstGeom>
          <a:noFill/>
          <a:ln/>
        </p:spPr>
        <p:txBody>
          <a:bodyPr wrap="square" lIns="0" tIns="0" rIns="0" bIns="0" rtlCol="0" anchor="t">
            <a:normAutofit/>
          </a:bodyPr>
          <a:lstStyle/>
          <a:p>
            <a:pPr indent="0" marL="0">
              <a:buNone/>
            </a:pPr>
            <a:r>
              <a:rPr lang="en-US" sz="850" b="1" dirty="0">
                <a:solidFill>
                  <a:srgbClr val="F7FAFC"/>
                </a:solidFill>
              </a:rPr>
              <a:t>API Resources control the response shape, so external clients receive clean JSON data.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13</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Live demonstration scenario</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I will show the project as a product flow, not as random pages.</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1097280" y="1591056"/>
            <a:ext cx="9829800" cy="530352"/>
          </a:xfrm>
          <a:prstGeom prst="roundRect">
            <a:avLst>
              <a:gd name="adj" fmla="val 24138"/>
            </a:avLst>
          </a:prstGeom>
          <a:solidFill>
            <a:srgbClr val="101827"/>
          </a:solidFill>
          <a:ln w="12700">
            <a:solidFill>
              <a:srgbClr val="25344C"/>
            </a:solidFill>
            <a:prstDash val="solid"/>
          </a:ln>
        </p:spPr>
      </p:sp>
      <p:sp>
        <p:nvSpPr>
          <p:cNvPr id="11" name="Text 9"/>
          <p:cNvSpPr/>
          <p:nvPr/>
        </p:nvSpPr>
        <p:spPr>
          <a:xfrm>
            <a:off x="1353312" y="1728216"/>
            <a:ext cx="228600" cy="146304"/>
          </a:xfrm>
          <a:prstGeom prst="rect">
            <a:avLst/>
          </a:prstGeom>
          <a:noFill/>
          <a:ln/>
        </p:spPr>
        <p:txBody>
          <a:bodyPr wrap="square" lIns="0" tIns="0" rIns="0" bIns="0" rtlCol="0" anchor="ctr"/>
          <a:lstStyle/>
          <a:p>
            <a:pPr indent="0" marL="0">
              <a:buNone/>
            </a:pPr>
            <a:r>
              <a:rPr lang="en-US" sz="1050" b="1" dirty="0">
                <a:solidFill>
                  <a:srgbClr val="00B7FF"/>
                </a:solidFill>
              </a:rPr>
              <a:t>1</a:t>
            </a:r>
            <a:endParaRPr lang="en-US" sz="1050" dirty="0"/>
          </a:p>
        </p:txBody>
      </p:sp>
      <p:sp>
        <p:nvSpPr>
          <p:cNvPr id="12" name="Text 10"/>
          <p:cNvSpPr/>
          <p:nvPr/>
        </p:nvSpPr>
        <p:spPr>
          <a:xfrm>
            <a:off x="1874520" y="1728216"/>
            <a:ext cx="1417320" cy="164592"/>
          </a:xfrm>
          <a:prstGeom prst="rect">
            <a:avLst/>
          </a:prstGeom>
          <a:noFill/>
          <a:ln/>
        </p:spPr>
        <p:txBody>
          <a:bodyPr wrap="square" lIns="0" tIns="0" rIns="0" bIns="0" rtlCol="0" anchor="ctr"/>
          <a:lstStyle/>
          <a:p>
            <a:pPr indent="0" marL="0">
              <a:buNone/>
            </a:pPr>
            <a:r>
              <a:rPr lang="en-US" sz="1070" b="1" dirty="0">
                <a:solidFill>
                  <a:srgbClr val="F7FAFC"/>
                </a:solidFill>
              </a:rPr>
              <a:t>Login</a:t>
            </a:r>
            <a:endParaRPr lang="en-US" sz="1070" dirty="0"/>
          </a:p>
        </p:txBody>
      </p:sp>
      <p:sp>
        <p:nvSpPr>
          <p:cNvPr id="13" name="Text 11"/>
          <p:cNvSpPr/>
          <p:nvPr/>
        </p:nvSpPr>
        <p:spPr>
          <a:xfrm>
            <a:off x="3794760" y="1728216"/>
            <a:ext cx="5120640" cy="164592"/>
          </a:xfrm>
          <a:prstGeom prst="rect">
            <a:avLst/>
          </a:prstGeom>
          <a:noFill/>
          <a:ln/>
        </p:spPr>
        <p:txBody>
          <a:bodyPr wrap="square" lIns="0" tIns="0" rIns="0" bIns="0" rtlCol="0" anchor="ctr"/>
          <a:lstStyle/>
          <a:p>
            <a:pPr indent="0" marL="0">
              <a:buNone/>
            </a:pPr>
            <a:r>
              <a:rPr lang="en-US" sz="920" dirty="0">
                <a:solidFill>
                  <a:srgbClr val="AAB7CC"/>
                </a:solidFill>
              </a:rPr>
              <a:t>Admin enters protected area</a:t>
            </a:r>
            <a:endParaRPr lang="en-US" sz="920" dirty="0"/>
          </a:p>
        </p:txBody>
      </p:sp>
      <p:sp>
        <p:nvSpPr>
          <p:cNvPr id="14" name="Shape 12"/>
          <p:cNvSpPr/>
          <p:nvPr/>
        </p:nvSpPr>
        <p:spPr>
          <a:xfrm>
            <a:off x="1097280" y="2395728"/>
            <a:ext cx="9829800" cy="530352"/>
          </a:xfrm>
          <a:prstGeom prst="roundRect">
            <a:avLst>
              <a:gd name="adj" fmla="val 24138"/>
            </a:avLst>
          </a:prstGeom>
          <a:solidFill>
            <a:srgbClr val="101827"/>
          </a:solidFill>
          <a:ln w="12700">
            <a:solidFill>
              <a:srgbClr val="25344C"/>
            </a:solidFill>
            <a:prstDash val="solid"/>
          </a:ln>
        </p:spPr>
      </p:sp>
      <p:sp>
        <p:nvSpPr>
          <p:cNvPr id="15" name="Text 13"/>
          <p:cNvSpPr/>
          <p:nvPr/>
        </p:nvSpPr>
        <p:spPr>
          <a:xfrm>
            <a:off x="1353312" y="2532888"/>
            <a:ext cx="228600" cy="146304"/>
          </a:xfrm>
          <a:prstGeom prst="rect">
            <a:avLst/>
          </a:prstGeom>
          <a:noFill/>
          <a:ln/>
        </p:spPr>
        <p:txBody>
          <a:bodyPr wrap="square" lIns="0" tIns="0" rIns="0" bIns="0" rtlCol="0" anchor="ctr"/>
          <a:lstStyle/>
          <a:p>
            <a:pPr indent="0" marL="0">
              <a:buNone/>
            </a:pPr>
            <a:r>
              <a:rPr lang="en-US" sz="1050" b="1" dirty="0">
                <a:solidFill>
                  <a:srgbClr val="34E6C2"/>
                </a:solidFill>
              </a:rPr>
              <a:t>2</a:t>
            </a:r>
            <a:endParaRPr lang="en-US" sz="1050" dirty="0"/>
          </a:p>
        </p:txBody>
      </p:sp>
      <p:sp>
        <p:nvSpPr>
          <p:cNvPr id="16" name="Text 14"/>
          <p:cNvSpPr/>
          <p:nvPr/>
        </p:nvSpPr>
        <p:spPr>
          <a:xfrm>
            <a:off x="1874520" y="2532888"/>
            <a:ext cx="1417320" cy="164592"/>
          </a:xfrm>
          <a:prstGeom prst="rect">
            <a:avLst/>
          </a:prstGeom>
          <a:noFill/>
          <a:ln/>
        </p:spPr>
        <p:txBody>
          <a:bodyPr wrap="square" lIns="0" tIns="0" rIns="0" bIns="0" rtlCol="0" anchor="ctr"/>
          <a:lstStyle/>
          <a:p>
            <a:pPr indent="0" marL="0">
              <a:buNone/>
            </a:pPr>
            <a:r>
              <a:rPr lang="en-US" sz="1070" b="1" dirty="0">
                <a:solidFill>
                  <a:srgbClr val="F7FAFC"/>
                </a:solidFill>
              </a:rPr>
              <a:t>Vacancy</a:t>
            </a:r>
            <a:endParaRPr lang="en-US" sz="1070" dirty="0"/>
          </a:p>
        </p:txBody>
      </p:sp>
      <p:sp>
        <p:nvSpPr>
          <p:cNvPr id="17" name="Text 15"/>
          <p:cNvSpPr/>
          <p:nvPr/>
        </p:nvSpPr>
        <p:spPr>
          <a:xfrm>
            <a:off x="3794760" y="2532888"/>
            <a:ext cx="5120640" cy="164592"/>
          </a:xfrm>
          <a:prstGeom prst="rect">
            <a:avLst/>
          </a:prstGeom>
          <a:noFill/>
          <a:ln/>
        </p:spPr>
        <p:txBody>
          <a:bodyPr wrap="square" lIns="0" tIns="0" rIns="0" bIns="0" rtlCol="0" anchor="ctr"/>
          <a:lstStyle/>
          <a:p>
            <a:pPr indent="0" marL="0">
              <a:buNone/>
            </a:pPr>
            <a:r>
              <a:rPr lang="en-US" sz="920" dirty="0">
                <a:solidFill>
                  <a:srgbClr val="AAB7CC"/>
                </a:solidFill>
              </a:rPr>
              <a:t>Create or open a career opportunity</a:t>
            </a:r>
            <a:endParaRPr lang="en-US" sz="920" dirty="0"/>
          </a:p>
        </p:txBody>
      </p:sp>
      <p:sp>
        <p:nvSpPr>
          <p:cNvPr id="18" name="Shape 16"/>
          <p:cNvSpPr/>
          <p:nvPr/>
        </p:nvSpPr>
        <p:spPr>
          <a:xfrm>
            <a:off x="1097280" y="3200400"/>
            <a:ext cx="9829800" cy="530352"/>
          </a:xfrm>
          <a:prstGeom prst="roundRect">
            <a:avLst>
              <a:gd name="adj" fmla="val 24138"/>
            </a:avLst>
          </a:prstGeom>
          <a:solidFill>
            <a:srgbClr val="101827"/>
          </a:solidFill>
          <a:ln w="12700">
            <a:solidFill>
              <a:srgbClr val="25344C"/>
            </a:solidFill>
            <a:prstDash val="solid"/>
          </a:ln>
        </p:spPr>
      </p:sp>
      <p:sp>
        <p:nvSpPr>
          <p:cNvPr id="19" name="Text 17"/>
          <p:cNvSpPr/>
          <p:nvPr/>
        </p:nvSpPr>
        <p:spPr>
          <a:xfrm>
            <a:off x="1353312" y="3337560"/>
            <a:ext cx="228600" cy="146304"/>
          </a:xfrm>
          <a:prstGeom prst="rect">
            <a:avLst/>
          </a:prstGeom>
          <a:noFill/>
          <a:ln/>
        </p:spPr>
        <p:txBody>
          <a:bodyPr wrap="square" lIns="0" tIns="0" rIns="0" bIns="0" rtlCol="0" anchor="ctr"/>
          <a:lstStyle/>
          <a:p>
            <a:pPr indent="0" marL="0">
              <a:buNone/>
            </a:pPr>
            <a:r>
              <a:rPr lang="en-US" sz="1050" b="1" dirty="0">
                <a:solidFill>
                  <a:srgbClr val="00B7FF"/>
                </a:solidFill>
              </a:rPr>
              <a:t>3</a:t>
            </a:r>
            <a:endParaRPr lang="en-US" sz="1050" dirty="0"/>
          </a:p>
        </p:txBody>
      </p:sp>
      <p:sp>
        <p:nvSpPr>
          <p:cNvPr id="20" name="Text 18"/>
          <p:cNvSpPr/>
          <p:nvPr/>
        </p:nvSpPr>
        <p:spPr>
          <a:xfrm>
            <a:off x="1874520" y="3337560"/>
            <a:ext cx="1417320" cy="164592"/>
          </a:xfrm>
          <a:prstGeom prst="rect">
            <a:avLst/>
          </a:prstGeom>
          <a:noFill/>
          <a:ln/>
        </p:spPr>
        <p:txBody>
          <a:bodyPr wrap="square" lIns="0" tIns="0" rIns="0" bIns="0" rtlCol="0" anchor="ctr"/>
          <a:lstStyle/>
          <a:p>
            <a:pPr indent="0" marL="0">
              <a:buNone/>
            </a:pPr>
            <a:r>
              <a:rPr lang="en-US" sz="1070" b="1" dirty="0">
                <a:solidFill>
                  <a:srgbClr val="F7FAFC"/>
                </a:solidFill>
              </a:rPr>
              <a:t>Student</a:t>
            </a:r>
            <a:endParaRPr lang="en-US" sz="1070" dirty="0"/>
          </a:p>
        </p:txBody>
      </p:sp>
      <p:sp>
        <p:nvSpPr>
          <p:cNvPr id="21" name="Text 19"/>
          <p:cNvSpPr/>
          <p:nvPr/>
        </p:nvSpPr>
        <p:spPr>
          <a:xfrm>
            <a:off x="3794760" y="3337560"/>
            <a:ext cx="5120640" cy="164592"/>
          </a:xfrm>
          <a:prstGeom prst="rect">
            <a:avLst/>
          </a:prstGeom>
          <a:noFill/>
          <a:ln/>
        </p:spPr>
        <p:txBody>
          <a:bodyPr wrap="square" lIns="0" tIns="0" rIns="0" bIns="0" rtlCol="0" anchor="ctr"/>
          <a:lstStyle/>
          <a:p>
            <a:pPr indent="0" marL="0">
              <a:buNone/>
            </a:pPr>
            <a:r>
              <a:rPr lang="en-US" sz="920" dirty="0">
                <a:solidFill>
                  <a:srgbClr val="AAB7CC"/>
                </a:solidFill>
              </a:rPr>
              <a:t>Open a profile with skills and photo</a:t>
            </a:r>
            <a:endParaRPr lang="en-US" sz="920" dirty="0"/>
          </a:p>
        </p:txBody>
      </p:sp>
      <p:sp>
        <p:nvSpPr>
          <p:cNvPr id="22" name="Shape 20"/>
          <p:cNvSpPr/>
          <p:nvPr/>
        </p:nvSpPr>
        <p:spPr>
          <a:xfrm>
            <a:off x="1097280" y="4005072"/>
            <a:ext cx="9829800" cy="530352"/>
          </a:xfrm>
          <a:prstGeom prst="roundRect">
            <a:avLst>
              <a:gd name="adj" fmla="val 24138"/>
            </a:avLst>
          </a:prstGeom>
          <a:solidFill>
            <a:srgbClr val="101827"/>
          </a:solidFill>
          <a:ln w="12700">
            <a:solidFill>
              <a:srgbClr val="25344C"/>
            </a:solidFill>
            <a:prstDash val="solid"/>
          </a:ln>
        </p:spPr>
      </p:sp>
      <p:sp>
        <p:nvSpPr>
          <p:cNvPr id="23" name="Text 21"/>
          <p:cNvSpPr/>
          <p:nvPr/>
        </p:nvSpPr>
        <p:spPr>
          <a:xfrm>
            <a:off x="1353312" y="4142232"/>
            <a:ext cx="228600" cy="146304"/>
          </a:xfrm>
          <a:prstGeom prst="rect">
            <a:avLst/>
          </a:prstGeom>
          <a:noFill/>
          <a:ln/>
        </p:spPr>
        <p:txBody>
          <a:bodyPr wrap="square" lIns="0" tIns="0" rIns="0" bIns="0" rtlCol="0" anchor="ctr"/>
          <a:lstStyle/>
          <a:p>
            <a:pPr indent="0" marL="0">
              <a:buNone/>
            </a:pPr>
            <a:r>
              <a:rPr lang="en-US" sz="1050" b="1" dirty="0">
                <a:solidFill>
                  <a:srgbClr val="34E6C2"/>
                </a:solidFill>
              </a:rPr>
              <a:t>4</a:t>
            </a:r>
            <a:endParaRPr lang="en-US" sz="1050" dirty="0"/>
          </a:p>
        </p:txBody>
      </p:sp>
      <p:sp>
        <p:nvSpPr>
          <p:cNvPr id="24" name="Text 22"/>
          <p:cNvSpPr/>
          <p:nvPr/>
        </p:nvSpPr>
        <p:spPr>
          <a:xfrm>
            <a:off x="1874520" y="4142232"/>
            <a:ext cx="1417320" cy="164592"/>
          </a:xfrm>
          <a:prstGeom prst="rect">
            <a:avLst/>
          </a:prstGeom>
          <a:noFill/>
          <a:ln/>
        </p:spPr>
        <p:txBody>
          <a:bodyPr wrap="square" lIns="0" tIns="0" rIns="0" bIns="0" rtlCol="0" anchor="ctr"/>
          <a:lstStyle/>
          <a:p>
            <a:pPr indent="0" marL="0">
              <a:buNone/>
            </a:pPr>
            <a:r>
              <a:rPr lang="en-US" sz="1070" b="1" dirty="0">
                <a:solidFill>
                  <a:srgbClr val="F7FAFC"/>
                </a:solidFill>
              </a:rPr>
              <a:t>Application</a:t>
            </a:r>
            <a:endParaRPr lang="en-US" sz="1070" dirty="0"/>
          </a:p>
        </p:txBody>
      </p:sp>
      <p:sp>
        <p:nvSpPr>
          <p:cNvPr id="25" name="Text 23"/>
          <p:cNvSpPr/>
          <p:nvPr/>
        </p:nvSpPr>
        <p:spPr>
          <a:xfrm>
            <a:off x="3794760" y="4142232"/>
            <a:ext cx="5120640" cy="164592"/>
          </a:xfrm>
          <a:prstGeom prst="rect">
            <a:avLst/>
          </a:prstGeom>
          <a:noFill/>
          <a:ln/>
        </p:spPr>
        <p:txBody>
          <a:bodyPr wrap="square" lIns="0" tIns="0" rIns="0" bIns="0" rtlCol="0" anchor="ctr"/>
          <a:lstStyle/>
          <a:p>
            <a:pPr indent="0" marL="0">
              <a:buNone/>
            </a:pPr>
            <a:r>
              <a:rPr lang="en-US" sz="920" dirty="0">
                <a:solidFill>
                  <a:srgbClr val="AAB7CC"/>
                </a:solidFill>
              </a:rPr>
              <a:t>Connect student to vacancy and review status</a:t>
            </a:r>
            <a:endParaRPr lang="en-US" sz="920" dirty="0"/>
          </a:p>
        </p:txBody>
      </p:sp>
      <p:sp>
        <p:nvSpPr>
          <p:cNvPr id="26" name="Shape 24"/>
          <p:cNvSpPr/>
          <p:nvPr/>
        </p:nvSpPr>
        <p:spPr>
          <a:xfrm>
            <a:off x="1097280" y="4809744"/>
            <a:ext cx="9829800" cy="530352"/>
          </a:xfrm>
          <a:prstGeom prst="roundRect">
            <a:avLst>
              <a:gd name="adj" fmla="val 24138"/>
            </a:avLst>
          </a:prstGeom>
          <a:solidFill>
            <a:srgbClr val="101827"/>
          </a:solidFill>
          <a:ln w="12700">
            <a:solidFill>
              <a:srgbClr val="25344C"/>
            </a:solidFill>
            <a:prstDash val="solid"/>
          </a:ln>
        </p:spPr>
      </p:sp>
      <p:sp>
        <p:nvSpPr>
          <p:cNvPr id="27" name="Text 25"/>
          <p:cNvSpPr/>
          <p:nvPr/>
        </p:nvSpPr>
        <p:spPr>
          <a:xfrm>
            <a:off x="1353312" y="4946904"/>
            <a:ext cx="228600" cy="146304"/>
          </a:xfrm>
          <a:prstGeom prst="rect">
            <a:avLst/>
          </a:prstGeom>
          <a:noFill/>
          <a:ln/>
        </p:spPr>
        <p:txBody>
          <a:bodyPr wrap="square" lIns="0" tIns="0" rIns="0" bIns="0" rtlCol="0" anchor="ctr"/>
          <a:lstStyle/>
          <a:p>
            <a:pPr indent="0" marL="0">
              <a:buNone/>
            </a:pPr>
            <a:r>
              <a:rPr lang="en-US" sz="1050" b="1" dirty="0">
                <a:solidFill>
                  <a:srgbClr val="00B7FF"/>
                </a:solidFill>
              </a:rPr>
              <a:t>5</a:t>
            </a:r>
            <a:endParaRPr lang="en-US" sz="1050" dirty="0"/>
          </a:p>
        </p:txBody>
      </p:sp>
      <p:sp>
        <p:nvSpPr>
          <p:cNvPr id="28" name="Text 26"/>
          <p:cNvSpPr/>
          <p:nvPr/>
        </p:nvSpPr>
        <p:spPr>
          <a:xfrm>
            <a:off x="1874520" y="4946904"/>
            <a:ext cx="1417320" cy="164592"/>
          </a:xfrm>
          <a:prstGeom prst="rect">
            <a:avLst/>
          </a:prstGeom>
          <a:noFill/>
          <a:ln/>
        </p:spPr>
        <p:txBody>
          <a:bodyPr wrap="square" lIns="0" tIns="0" rIns="0" bIns="0" rtlCol="0" anchor="ctr"/>
          <a:lstStyle/>
          <a:p>
            <a:pPr indent="0" marL="0">
              <a:buNone/>
            </a:pPr>
            <a:r>
              <a:rPr lang="en-US" sz="1070" b="1" dirty="0">
                <a:solidFill>
                  <a:srgbClr val="F7FAFC"/>
                </a:solidFill>
              </a:rPr>
              <a:t>API</a:t>
            </a:r>
            <a:endParaRPr lang="en-US" sz="1070" dirty="0"/>
          </a:p>
        </p:txBody>
      </p:sp>
      <p:sp>
        <p:nvSpPr>
          <p:cNvPr id="29" name="Text 27"/>
          <p:cNvSpPr/>
          <p:nvPr/>
        </p:nvSpPr>
        <p:spPr>
          <a:xfrm>
            <a:off x="3794760" y="4946904"/>
            <a:ext cx="5120640" cy="164592"/>
          </a:xfrm>
          <a:prstGeom prst="rect">
            <a:avLst/>
          </a:prstGeom>
          <a:noFill/>
          <a:ln/>
        </p:spPr>
        <p:txBody>
          <a:bodyPr wrap="square" lIns="0" tIns="0" rIns="0" bIns="0" rtlCol="0" anchor="ctr"/>
          <a:lstStyle/>
          <a:p>
            <a:pPr indent="0" marL="0">
              <a:buNone/>
            </a:pPr>
            <a:r>
              <a:rPr lang="en-US" sz="920" dirty="0">
                <a:solidFill>
                  <a:srgbClr val="AAB7CC"/>
                </a:solidFill>
              </a:rPr>
              <a:t>Open JSON endpoint for the same data</a:t>
            </a:r>
            <a:endParaRPr lang="en-US" sz="920" dirty="0"/>
          </a:p>
        </p:txBody>
      </p:sp>
      <p:sp>
        <p:nvSpPr>
          <p:cNvPr id="30" name="Shape 28"/>
          <p:cNvSpPr/>
          <p:nvPr/>
        </p:nvSpPr>
        <p:spPr>
          <a:xfrm>
            <a:off x="1828800" y="5897880"/>
            <a:ext cx="8458200" cy="438912"/>
          </a:xfrm>
          <a:prstGeom prst="roundRect">
            <a:avLst>
              <a:gd name="adj" fmla="val 25000"/>
            </a:avLst>
          </a:prstGeom>
          <a:solidFill>
            <a:srgbClr val="0D1524"/>
          </a:solidFill>
          <a:ln w="12700">
            <a:solidFill>
              <a:srgbClr val="1F2A44"/>
            </a:solidFill>
            <a:prstDash val="solid"/>
          </a:ln>
        </p:spPr>
      </p:sp>
      <p:sp>
        <p:nvSpPr>
          <p:cNvPr id="31" name="Text 29"/>
          <p:cNvSpPr/>
          <p:nvPr/>
        </p:nvSpPr>
        <p:spPr>
          <a:xfrm>
            <a:off x="2157984" y="6044184"/>
            <a:ext cx="7818120" cy="109728"/>
          </a:xfrm>
          <a:prstGeom prst="rect">
            <a:avLst/>
          </a:prstGeom>
          <a:noFill/>
          <a:ln/>
        </p:spPr>
        <p:txBody>
          <a:bodyPr wrap="square" lIns="0" tIns="0" rIns="0" bIns="0" rtlCol="0" anchor="t">
            <a:normAutofit/>
          </a:bodyPr>
          <a:lstStyle/>
          <a:p>
            <a:pPr indent="0" marL="0">
              <a:buNone/>
            </a:pPr>
            <a:r>
              <a:rPr lang="en-US" sz="920" b="1" dirty="0">
                <a:solidFill>
                  <a:srgbClr val="F7FAFC"/>
                </a:solidFill>
              </a:rPr>
              <a:t>The demo follows the real story of the application: a career office manages an opportunity from creation to review.</a:t>
            </a:r>
            <a:endParaRPr lang="en-US" sz="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B13"/>
          </a:solidFill>
          <a:ln w="6350">
            <a:solidFill>
              <a:srgbClr val="070B13">
                <a:alpha val="0"/>
              </a:srgbClr>
            </a:solidFill>
            <a:prstDash val="solid"/>
          </a:ln>
        </p:spPr>
      </p:sp>
      <p:sp>
        <p:nvSpPr>
          <p:cNvPr id="3" name="Shape 1"/>
          <p:cNvSpPr/>
          <p:nvPr/>
        </p:nvSpPr>
        <p:spPr>
          <a:xfrm>
            <a:off x="0" y="0"/>
            <a:ext cx="73152" cy="6858000"/>
          </a:xfrm>
          <a:prstGeom prst="rect">
            <a:avLst/>
          </a:prstGeom>
          <a:solidFill>
            <a:srgbClr val="00B7FF">
              <a:alpha val="62000"/>
            </a:srgbClr>
          </a:solidFill>
          <a:ln w="6350">
            <a:solidFill>
              <a:srgbClr val="00B7FF">
                <a:alpha val="0"/>
              </a:srgbClr>
            </a:solidFill>
            <a:prstDash val="solid"/>
          </a:ln>
        </p:spPr>
      </p:sp>
      <p:sp>
        <p:nvSpPr>
          <p:cNvPr id="4" name="Shape 2"/>
          <p:cNvSpPr/>
          <p:nvPr/>
        </p:nvSpPr>
        <p:spPr>
          <a:xfrm>
            <a:off x="12118543" y="0"/>
            <a:ext cx="73152" cy="6858000"/>
          </a:xfrm>
          <a:prstGeom prst="rect">
            <a:avLst/>
          </a:prstGeom>
          <a:solidFill>
            <a:srgbClr val="34E6C2">
              <a:alpha val="30000"/>
            </a:srgbClr>
          </a:solidFill>
          <a:ln w="6350">
            <a:solidFill>
              <a:srgbClr val="34E6C2">
                <a:alpha val="0"/>
              </a:srgbClr>
            </a:solidFill>
            <a:prstDash val="solid"/>
          </a:ln>
        </p:spPr>
      </p:sp>
      <p:sp>
        <p:nvSpPr>
          <p:cNvPr id="5" name="Text 3"/>
          <p:cNvSpPr/>
          <p:nvPr/>
        </p:nvSpPr>
        <p:spPr>
          <a:xfrm>
            <a:off x="11155680" y="6556248"/>
            <a:ext cx="411480" cy="146304"/>
          </a:xfrm>
          <a:prstGeom prst="rect">
            <a:avLst/>
          </a:prstGeom>
          <a:noFill/>
          <a:ln/>
        </p:spPr>
        <p:txBody>
          <a:bodyPr wrap="square" lIns="0" tIns="0" rIns="0" bIns="0" rtlCol="0" anchor="ctr"/>
          <a:lstStyle/>
          <a:p>
            <a:pPr indent="0" marL="0">
              <a:buNone/>
            </a:pPr>
            <a:r>
              <a:rPr lang="en-US" sz="650" dirty="0">
                <a:solidFill>
                  <a:srgbClr val="58677F"/>
                </a:solidFill>
              </a:rPr>
              <a:t>14</a:t>
            </a:r>
            <a:endParaRPr lang="en-US" sz="650" dirty="0"/>
          </a:p>
        </p:txBody>
      </p:sp>
      <p:sp>
        <p:nvSpPr>
          <p:cNvPr id="6" name="Text 4"/>
          <p:cNvSpPr/>
          <p:nvPr/>
        </p:nvSpPr>
        <p:spPr>
          <a:xfrm>
            <a:off x="502920" y="6556248"/>
            <a:ext cx="4023360" cy="146304"/>
          </a:xfrm>
          <a:prstGeom prst="rect">
            <a:avLst/>
          </a:prstGeom>
          <a:noFill/>
          <a:ln/>
        </p:spPr>
        <p:txBody>
          <a:bodyPr wrap="square" lIns="0" tIns="0" rIns="0" bIns="0" rtlCol="0" anchor="ctr"/>
          <a:lstStyle/>
          <a:p>
            <a:pPr indent="0" marL="0">
              <a:buNone/>
            </a:pPr>
            <a:r>
              <a:rPr lang="en-US" sz="650" dirty="0">
                <a:solidFill>
                  <a:srgbClr val="58677F"/>
                </a:solidFill>
              </a:rPr>
              <a:t>Laravel Final Project · KIU Career Hub</a:t>
            </a:r>
            <a:endParaRPr lang="en-US" sz="650" dirty="0"/>
          </a:p>
        </p:txBody>
      </p:sp>
      <p:sp>
        <p:nvSpPr>
          <p:cNvPr id="7" name="Text 5"/>
          <p:cNvSpPr/>
          <p:nvPr/>
        </p:nvSpPr>
        <p:spPr>
          <a:xfrm>
            <a:off x="502920" y="402336"/>
            <a:ext cx="8778240" cy="384048"/>
          </a:xfrm>
          <a:prstGeom prst="rect">
            <a:avLst/>
          </a:prstGeom>
          <a:noFill/>
          <a:ln/>
        </p:spPr>
        <p:txBody>
          <a:bodyPr wrap="square" lIns="0" tIns="0" rIns="0" bIns="0" rtlCol="0" anchor="ctr">
            <a:normAutofit/>
          </a:bodyPr>
          <a:lstStyle/>
          <a:p>
            <a:pPr indent="0" marL="0">
              <a:buNone/>
            </a:pPr>
            <a:r>
              <a:rPr lang="en-US" sz="2550" b="1" dirty="0">
                <a:solidFill>
                  <a:srgbClr val="F7FAFC"/>
                </a:solidFill>
                <a:latin typeface="Aptos Display" pitchFamily="34" charset="0"/>
                <a:ea typeface="Aptos Display" pitchFamily="34" charset="-122"/>
                <a:cs typeface="Aptos Display" pitchFamily="34" charset="-120"/>
              </a:rPr>
              <a:t>Conclusion: Laravel concepts turned into a working system</a:t>
            </a:r>
            <a:endParaRPr lang="en-US" sz="2550" dirty="0"/>
          </a:p>
        </p:txBody>
      </p:sp>
      <p:sp>
        <p:nvSpPr>
          <p:cNvPr id="8" name="Text 6"/>
          <p:cNvSpPr/>
          <p:nvPr/>
        </p:nvSpPr>
        <p:spPr>
          <a:xfrm>
            <a:off x="530352" y="859536"/>
            <a:ext cx="9326880" cy="256032"/>
          </a:xfrm>
          <a:prstGeom prst="rect">
            <a:avLst/>
          </a:prstGeom>
          <a:noFill/>
          <a:ln/>
        </p:spPr>
        <p:txBody>
          <a:bodyPr wrap="square" lIns="0" tIns="0" rIns="0" bIns="0" rtlCol="0" anchor="ctr">
            <a:normAutofit/>
          </a:bodyPr>
          <a:lstStyle/>
          <a:p>
            <a:pPr indent="0" marL="0">
              <a:buNone/>
            </a:pPr>
            <a:r>
              <a:rPr lang="en-US" sz="1050" dirty="0">
                <a:solidFill>
                  <a:srgbClr val="AAB7CC"/>
                </a:solidFill>
              </a:rPr>
              <a:t>KIU Career Hub combines product value with the technical Laravel requirements.</a:t>
            </a:r>
            <a:endParaRPr lang="en-US" sz="1050" dirty="0"/>
          </a:p>
        </p:txBody>
      </p:sp>
      <p:sp>
        <p:nvSpPr>
          <p:cNvPr id="9" name="Shape 7"/>
          <p:cNvSpPr/>
          <p:nvPr/>
        </p:nvSpPr>
        <p:spPr>
          <a:xfrm>
            <a:off x="502920" y="1225296"/>
            <a:ext cx="1399032" cy="0"/>
          </a:xfrm>
          <a:prstGeom prst="line">
            <a:avLst/>
          </a:prstGeom>
          <a:noFill/>
          <a:ln w="27940">
            <a:solidFill>
              <a:srgbClr val="00B7FF"/>
            </a:solidFill>
            <a:prstDash val="solid"/>
            <a:headEnd type="none"/>
            <a:tailEnd type="none"/>
          </a:ln>
        </p:spPr>
      </p:sp>
      <p:sp>
        <p:nvSpPr>
          <p:cNvPr id="10" name="Shape 8"/>
          <p:cNvSpPr/>
          <p:nvPr/>
        </p:nvSpPr>
        <p:spPr>
          <a:xfrm>
            <a:off x="868680" y="1664208"/>
            <a:ext cx="4892040" cy="3063240"/>
          </a:xfrm>
          <a:prstGeom prst="roundRect">
            <a:avLst>
              <a:gd name="adj" fmla="val 4776"/>
            </a:avLst>
          </a:prstGeom>
          <a:solidFill>
            <a:srgbClr val="101827"/>
          </a:solidFill>
          <a:ln w="12700">
            <a:solidFill>
              <a:srgbClr val="25344C"/>
            </a:solidFill>
            <a:prstDash val="solid"/>
          </a:ln>
        </p:spPr>
      </p:sp>
      <p:sp>
        <p:nvSpPr>
          <p:cNvPr id="11" name="Text 9"/>
          <p:cNvSpPr/>
          <p:nvPr/>
        </p:nvSpPr>
        <p:spPr>
          <a:xfrm>
            <a:off x="1170432" y="1993392"/>
            <a:ext cx="2011680" cy="256032"/>
          </a:xfrm>
          <a:prstGeom prst="rect">
            <a:avLst/>
          </a:prstGeom>
          <a:noFill/>
          <a:ln/>
        </p:spPr>
        <p:txBody>
          <a:bodyPr wrap="square" lIns="0" tIns="0" rIns="0" bIns="0" rtlCol="0" anchor="ctr"/>
          <a:lstStyle/>
          <a:p>
            <a:pPr indent="0" marL="0">
              <a:buNone/>
            </a:pPr>
            <a:r>
              <a:rPr lang="en-US" sz="1650" b="1" dirty="0">
                <a:solidFill>
                  <a:srgbClr val="34E6C2"/>
                </a:solidFill>
              </a:rPr>
              <a:t>Product value</a:t>
            </a:r>
            <a:endParaRPr lang="en-US" sz="1650" dirty="0"/>
          </a:p>
        </p:txBody>
      </p:sp>
      <p:sp>
        <p:nvSpPr>
          <p:cNvPr id="12" name="Text 10"/>
          <p:cNvSpPr/>
          <p:nvPr/>
        </p:nvSpPr>
        <p:spPr>
          <a:xfrm>
            <a:off x="1234440" y="2606040"/>
            <a:ext cx="3886200" cy="1371600"/>
          </a:xfrm>
          <a:prstGeom prst="rect">
            <a:avLst/>
          </a:prstGeom>
          <a:noFill/>
          <a:ln/>
        </p:spPr>
        <p:txBody>
          <a:bodyPr wrap="square" lIns="762" tIns="762" rIns="762" bIns="762" rtlCol="0" anchor="t">
            <a:normAutofit/>
          </a:bodyPr>
          <a:lstStyle/>
          <a:p>
            <a:r>
              <a:rPr lang="en-US" sz="1350" dirty="0">
                <a:solidFill>
                  <a:srgbClr val="F7FAFC"/>
                </a:solidFill>
              </a:rPr>
              <a:t>Centralized career workflow</a:t>
            </a:r>
            <a:endParaRPr lang="en-US" sz="1350" dirty="0"/>
          </a:p>
          <a:p>
            <a:r>
              <a:rPr lang="en-US" sz="1350" dirty="0">
                <a:solidFill>
                  <a:srgbClr val="F7FAFC"/>
                </a:solidFill>
              </a:rPr>
              <a:t>Clear student–vacancy matching</a:t>
            </a:r>
            <a:endParaRPr lang="en-US" sz="1350" dirty="0"/>
          </a:p>
          <a:p>
            <a:r>
              <a:rPr lang="en-US" sz="1350" dirty="0">
                <a:solidFill>
                  <a:srgbClr val="F7FAFC"/>
                </a:solidFill>
              </a:rPr>
              <a:t>Application status tracking</a:t>
            </a:r>
            <a:endParaRPr lang="en-US" sz="1350" dirty="0"/>
          </a:p>
          <a:p>
            <a:r>
              <a:rPr lang="en-US" sz="1350" dirty="0">
                <a:solidFill>
                  <a:srgbClr val="F7FAFC"/>
                </a:solidFill>
              </a:rPr>
              <a:t>Files and profiles in one place</a:t>
            </a:r>
            <a:endParaRPr lang="en-US" sz="1350" dirty="0"/>
          </a:p>
        </p:txBody>
      </p:sp>
      <p:sp>
        <p:nvSpPr>
          <p:cNvPr id="13" name="Shape 11"/>
          <p:cNvSpPr/>
          <p:nvPr/>
        </p:nvSpPr>
        <p:spPr>
          <a:xfrm>
            <a:off x="6400800" y="1664208"/>
            <a:ext cx="4892040" cy="3063240"/>
          </a:xfrm>
          <a:prstGeom prst="roundRect">
            <a:avLst>
              <a:gd name="adj" fmla="val 4776"/>
            </a:avLst>
          </a:prstGeom>
          <a:solidFill>
            <a:srgbClr val="101827"/>
          </a:solidFill>
          <a:ln w="12700">
            <a:solidFill>
              <a:srgbClr val="25344C"/>
            </a:solidFill>
            <a:prstDash val="solid"/>
          </a:ln>
        </p:spPr>
      </p:sp>
      <p:sp>
        <p:nvSpPr>
          <p:cNvPr id="14" name="Text 12"/>
          <p:cNvSpPr/>
          <p:nvPr/>
        </p:nvSpPr>
        <p:spPr>
          <a:xfrm>
            <a:off x="6702552" y="1993392"/>
            <a:ext cx="1828800" cy="256032"/>
          </a:xfrm>
          <a:prstGeom prst="rect">
            <a:avLst/>
          </a:prstGeom>
          <a:noFill/>
          <a:ln/>
        </p:spPr>
        <p:txBody>
          <a:bodyPr wrap="square" lIns="0" tIns="0" rIns="0" bIns="0" rtlCol="0" anchor="ctr"/>
          <a:lstStyle/>
          <a:p>
            <a:pPr indent="0" marL="0">
              <a:buNone/>
            </a:pPr>
            <a:r>
              <a:rPr lang="en-US" sz="1650" b="1" dirty="0">
                <a:solidFill>
                  <a:srgbClr val="00B7FF"/>
                </a:solidFill>
              </a:rPr>
              <a:t>Laravel proof</a:t>
            </a:r>
            <a:endParaRPr lang="en-US" sz="1650" dirty="0"/>
          </a:p>
        </p:txBody>
      </p:sp>
      <p:sp>
        <p:nvSpPr>
          <p:cNvPr id="15" name="Text 13"/>
          <p:cNvSpPr/>
          <p:nvPr/>
        </p:nvSpPr>
        <p:spPr>
          <a:xfrm>
            <a:off x="6766560" y="2606040"/>
            <a:ext cx="3886200" cy="1371600"/>
          </a:xfrm>
          <a:prstGeom prst="rect">
            <a:avLst/>
          </a:prstGeom>
          <a:noFill/>
          <a:ln/>
        </p:spPr>
        <p:txBody>
          <a:bodyPr wrap="square" lIns="762" tIns="762" rIns="762" bIns="762" rtlCol="0" anchor="t">
            <a:normAutofit/>
          </a:bodyPr>
          <a:lstStyle/>
          <a:p>
            <a:r>
              <a:rPr lang="en-US" sz="1350" dirty="0">
                <a:solidFill>
                  <a:srgbClr val="F7FAFC"/>
                </a:solidFill>
              </a:rPr>
              <a:t>MVC structure</a:t>
            </a:r>
            <a:endParaRPr lang="en-US" sz="1350" dirty="0"/>
          </a:p>
          <a:p>
            <a:r>
              <a:rPr lang="en-US" sz="1350" dirty="0">
                <a:solidFill>
                  <a:srgbClr val="F7FAFC"/>
                </a:solidFill>
              </a:rPr>
              <a:t>Eloquent relationships</a:t>
            </a:r>
            <a:endParaRPr lang="en-US" sz="1350" dirty="0"/>
          </a:p>
          <a:p>
            <a:r>
              <a:rPr lang="en-US" sz="1350" dirty="0">
                <a:solidFill>
                  <a:srgbClr val="F7FAFC"/>
                </a:solidFill>
              </a:rPr>
              <a:t>CRUD with validation</a:t>
            </a:r>
            <a:endParaRPr lang="en-US" sz="1350" dirty="0"/>
          </a:p>
          <a:p>
            <a:r>
              <a:rPr lang="en-US" sz="1350" dirty="0">
                <a:solidFill>
                  <a:srgbClr val="F7FAFC"/>
                </a:solidFill>
              </a:rPr>
              <a:t>Auth, middleware, uploads, API</a:t>
            </a:r>
            <a:endParaRPr lang="en-US" sz="1350" dirty="0"/>
          </a:p>
        </p:txBody>
      </p:sp>
      <p:sp>
        <p:nvSpPr>
          <p:cNvPr id="16" name="Text 14"/>
          <p:cNvSpPr/>
          <p:nvPr/>
        </p:nvSpPr>
        <p:spPr>
          <a:xfrm>
            <a:off x="4572000" y="5559552"/>
            <a:ext cx="3108960" cy="320040"/>
          </a:xfrm>
          <a:prstGeom prst="rect">
            <a:avLst/>
          </a:prstGeom>
          <a:noFill/>
          <a:ln/>
        </p:spPr>
        <p:txBody>
          <a:bodyPr wrap="square" lIns="0" tIns="0" rIns="0" bIns="0" rtlCol="0" anchor="ctr"/>
          <a:lstStyle/>
          <a:p>
            <a:pPr algn="ctr" indent="0" marL="0">
              <a:buNone/>
            </a:pPr>
            <a:r>
              <a:rPr lang="en-US" sz="2400" b="1" dirty="0">
                <a:solidFill>
                  <a:srgbClr val="F7FAFC"/>
                </a:solidFill>
                <a:latin typeface="Aptos Display" pitchFamily="34" charset="0"/>
                <a:ea typeface="Aptos Display" pitchFamily="34" charset="-122"/>
                <a:cs typeface="Aptos Display" pitchFamily="34" charset="-120"/>
              </a:rPr>
              <a:t>Thank you</a:t>
            </a:r>
            <a:endParaRPr lang="en-US" sz="2400" dirty="0"/>
          </a:p>
        </p:txBody>
      </p:sp>
      <p:sp>
        <p:nvSpPr>
          <p:cNvPr id="17" name="Text 15"/>
          <p:cNvSpPr/>
          <p:nvPr/>
        </p:nvSpPr>
        <p:spPr>
          <a:xfrm>
            <a:off x="3090672" y="5989320"/>
            <a:ext cx="6035040" cy="164592"/>
          </a:xfrm>
          <a:prstGeom prst="rect">
            <a:avLst/>
          </a:prstGeom>
          <a:noFill/>
          <a:ln/>
        </p:spPr>
        <p:txBody>
          <a:bodyPr wrap="square" lIns="0" tIns="0" rIns="0" bIns="0" rtlCol="0" anchor="ctr"/>
          <a:lstStyle/>
          <a:p>
            <a:pPr algn="ctr" indent="0" marL="0">
              <a:buNone/>
            </a:pPr>
            <a:r>
              <a:rPr lang="en-US" sz="860" dirty="0">
                <a:solidFill>
                  <a:srgbClr val="AAB7CC"/>
                </a:solidFill>
              </a:rPr>
              <a:t>Elene Molashvili · Subject: Laravel · Professor: Lasha Iashvili</a:t>
            </a:r>
            <a:endParaRPr lang="en-US"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Kutaisi International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KIU Career Hub — Laravel Final Project</dc:title>
  <dc:subject>Laravel — Final Project</dc:subject>
  <dc:creator>Elene Molashvili</dc:creator>
  <cp:lastModifiedBy>Elene Molashvili</cp:lastModifiedBy>
  <cp:revision>1</cp:revision>
  <dcterms:created xsi:type="dcterms:W3CDTF">2026-06-27T04:41:37Z</dcterms:created>
  <dcterms:modified xsi:type="dcterms:W3CDTF">2026-06-27T04:41:37Z</dcterms:modified>
</cp:coreProperties>
</file>